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72" r:id="rId1"/>
  </p:sldMasterIdLst>
  <p:notesMasterIdLst>
    <p:notesMasterId r:id="rId16"/>
  </p:notesMasterIdLst>
  <p:sldIdLst>
    <p:sldId id="413" r:id="rId2"/>
    <p:sldId id="452" r:id="rId3"/>
    <p:sldId id="453" r:id="rId4"/>
    <p:sldId id="454" r:id="rId5"/>
    <p:sldId id="455" r:id="rId6"/>
    <p:sldId id="456" r:id="rId7"/>
    <p:sldId id="457" r:id="rId8"/>
    <p:sldId id="458" r:id="rId9"/>
    <p:sldId id="459" r:id="rId10"/>
    <p:sldId id="460" r:id="rId11"/>
    <p:sldId id="463" r:id="rId12"/>
    <p:sldId id="461" r:id="rId13"/>
    <p:sldId id="464" r:id="rId14"/>
    <p:sldId id="450" r:id="rId15"/>
  </p:sldIdLst>
  <p:sldSz cx="9144000" cy="5143500" type="screen16x9"/>
  <p:notesSz cx="6858000" cy="9144000"/>
  <p:embeddedFontLst>
    <p:embeddedFont>
      <p:font typeface="Aharoni" panose="02010803020104030203" pitchFamily="2" charset="-79"/>
      <p:bold r:id="rId17"/>
    </p:embeddedFont>
    <p:embeddedFont>
      <p:font typeface="Khmer UI" panose="020B0502040204020203" pitchFamily="34" charset="0"/>
      <p:regular r:id="rId18"/>
      <p:bold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ExtraBold" panose="00000900000000000000" pitchFamily="2" charset="0"/>
      <p:bold r:id="rId24"/>
      <p:boldItalic r:id="rId25"/>
    </p:embeddedFont>
    <p:embeddedFont>
      <p:font typeface="Montserrat ExtraLight" panose="00000300000000000000" pitchFamily="2" charset="0"/>
      <p:regular r:id="rId26"/>
      <p:italic r:id="rId27"/>
    </p:embeddedFont>
    <p:embeddedFont>
      <p:font typeface="Posterama" panose="020B0504020200020000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D8B"/>
    <a:srgbClr val="72A700"/>
    <a:srgbClr val="F9F488"/>
    <a:srgbClr val="FFE6C5"/>
    <a:srgbClr val="FFAE43"/>
    <a:srgbClr val="85D5E6"/>
    <a:srgbClr val="FFD074"/>
    <a:srgbClr val="001631"/>
    <a:srgbClr val="E97132"/>
    <a:srgbClr val="747A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09" autoAdjust="0"/>
    <p:restoredTop sz="96323" autoAdjust="0"/>
  </p:normalViewPr>
  <p:slideViewPr>
    <p:cSldViewPr snapToGrid="0">
      <p:cViewPr varScale="1">
        <p:scale>
          <a:sx n="126" d="100"/>
          <a:sy n="126" d="100"/>
        </p:scale>
        <p:origin x="42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2333E3-72D9-4F8D-8968-0C5D8F107340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9271D7-2488-401D-96D1-EFC76CE6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40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457B78B-8EB0-26C4-34D1-4BA9B7FA54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1654825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sp>
        <p:nvSpPr>
          <p:cNvPr id="4" name="Google Shape;20;p5">
            <a:extLst>
              <a:ext uri="{FF2B5EF4-FFF2-40B4-BE49-F238E27FC236}">
                <a16:creationId xmlns:a16="http://schemas.microsoft.com/office/drawing/2014/main" id="{79693BF6-B94C-D376-1789-A93C44ABD66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2407885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cxnSp>
        <p:nvCxnSpPr>
          <p:cNvPr id="5" name="Google Shape;165;p38">
            <a:extLst>
              <a:ext uri="{FF2B5EF4-FFF2-40B4-BE49-F238E27FC236}">
                <a16:creationId xmlns:a16="http://schemas.microsoft.com/office/drawing/2014/main" id="{6958F97A-D385-638A-6C5B-8EC5D1715C4C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346791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760" y="3653609"/>
            <a:ext cx="1019175" cy="1019175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3857625" y="4163197"/>
            <a:ext cx="2634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0" dirty="0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fall semester 2025 _ </a:t>
            </a:r>
            <a:r>
              <a:rPr lang="en-US" sz="1200" baseline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Gharjistan</a:t>
            </a:r>
            <a:r>
              <a:rPr lang="en-US" sz="1200" baseline="0" dirty="0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 </a:t>
            </a:r>
            <a:r>
              <a:rPr lang="en-US" sz="1200" baseline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uni</a:t>
            </a:r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  <a:latin typeface="Khmer UI" pitchFamily="34" charset="0"/>
              <a:cs typeface="Khmer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72272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Title -No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7A11C6-19AA-3E44-58A7-C914B018C1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1654825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cxnSp>
        <p:nvCxnSpPr>
          <p:cNvPr id="6" name="Google Shape;165;p38">
            <a:extLst>
              <a:ext uri="{FF2B5EF4-FFF2-40B4-BE49-F238E27FC236}">
                <a16:creationId xmlns:a16="http://schemas.microsoft.com/office/drawing/2014/main" id="{1E131CE8-B620-0118-54DC-E0B7B5A813DD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346791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1" name="Google Shape;20;p5">
            <a:extLst>
              <a:ext uri="{FF2B5EF4-FFF2-40B4-BE49-F238E27FC236}">
                <a16:creationId xmlns:a16="http://schemas.microsoft.com/office/drawing/2014/main" id="{EA059631-C19E-991D-6D01-BE23FB703388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2407885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7276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 preserve="1" userDrawn="1">
  <p:cSld name="Section 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CC644-0069-AB3E-B406-3479FF69F9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2249400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cxnSp>
        <p:nvCxnSpPr>
          <p:cNvPr id="3" name="Google Shape;165;p38">
            <a:extLst>
              <a:ext uri="{FF2B5EF4-FFF2-40B4-BE49-F238E27FC236}">
                <a16:creationId xmlns:a16="http://schemas.microsoft.com/office/drawing/2014/main" id="{502F4F22-45C1-4753-A4B4-178CCF92C488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941366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Google Shape;20;p5">
            <a:extLst>
              <a:ext uri="{FF2B5EF4-FFF2-40B4-BE49-F238E27FC236}">
                <a16:creationId xmlns:a16="http://schemas.microsoft.com/office/drawing/2014/main" id="{2ECA98E3-F378-0703-E813-0F1EBA84AEEB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3002460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4598094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165;p38">
            <a:extLst>
              <a:ext uri="{FF2B5EF4-FFF2-40B4-BE49-F238E27FC236}">
                <a16:creationId xmlns:a16="http://schemas.microsoft.com/office/drawing/2014/main" id="{5FB02F9F-884B-4495-B25D-AB2D27F8BDA9}"/>
              </a:ext>
            </a:extLst>
          </p:cNvPr>
          <p:cNvCxnSpPr>
            <a:cxnSpLocks/>
          </p:cNvCxnSpPr>
          <p:nvPr userDrawn="1"/>
        </p:nvCxnSpPr>
        <p:spPr>
          <a:xfrm>
            <a:off x="2651760" y="1303659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129877323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2140121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2;p9">
            <a:extLst>
              <a:ext uri="{FF2B5EF4-FFF2-40B4-BE49-F238E27FC236}">
                <a16:creationId xmlns:a16="http://schemas.microsoft.com/office/drawing/2014/main" id="{EDCFF91D-84B0-43AC-0860-DF47CEB52A30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404612" y="420857"/>
            <a:ext cx="5735699" cy="589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000" b="0" i="0" u="none" strike="noStrike" kern="0" cap="none" dirty="0">
                <a:solidFill>
                  <a:srgbClr val="FFD07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r>
              <a:rPr lang="en-US" dirty="0"/>
              <a:t>Subtitle goes here …</a:t>
            </a:r>
            <a:endParaRPr dirty="0"/>
          </a:p>
        </p:txBody>
      </p:sp>
      <p:sp>
        <p:nvSpPr>
          <p:cNvPr id="5" name="Google Shape;17;p4">
            <a:extLst>
              <a:ext uri="{FF2B5EF4-FFF2-40B4-BE49-F238E27FC236}">
                <a16:creationId xmlns:a16="http://schemas.microsoft.com/office/drawing/2014/main" id="{345C5E3F-C6BF-5AB1-63B1-1DA3334D07D9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96090" y="1162049"/>
            <a:ext cx="7985378" cy="3005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300" kern="1200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766" lvl="1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Text goes here …</a:t>
            </a:r>
            <a:endParaRPr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8" name="Google Shape;36;p10">
            <a:extLst>
              <a:ext uri="{FF2B5EF4-FFF2-40B4-BE49-F238E27FC236}">
                <a16:creationId xmlns:a16="http://schemas.microsoft.com/office/drawing/2014/main" id="{E5E23F22-CC2F-45A0-82E7-1BCE0E8AF20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04613" y="113019"/>
            <a:ext cx="5194074" cy="402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1600" b="0" i="0" u="none" strike="noStrike" kern="0" cap="none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TITLE GOES HERE …</a:t>
            </a:r>
            <a:endParaRPr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915234F-9F30-4B8E-821A-4CA11ECA768E}"/>
              </a:ext>
            </a:extLst>
          </p:cNvPr>
          <p:cNvSpPr txBox="1">
            <a:spLocks/>
          </p:cNvSpPr>
          <p:nvPr userDrawn="1"/>
        </p:nvSpPr>
        <p:spPr>
          <a:xfrm>
            <a:off x="7837247" y="4769203"/>
            <a:ext cx="863222" cy="2612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685800"/>
            <a:fld id="{F8A59C0B-2424-46FD-9890-DD87FF18FE2B}" type="slidenum">
              <a:rPr lang="en-US" sz="1050" kern="0" smtClean="0">
                <a:solidFill>
                  <a:srgbClr val="FFD074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pPr algn="r" defTabSz="685800"/>
              <a:t>‹#›</a:t>
            </a:fld>
            <a:endParaRPr lang="en-US" sz="1200" kern="0" dirty="0">
              <a:solidFill>
                <a:srgbClr val="FFD074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cxnSp>
        <p:nvCxnSpPr>
          <p:cNvPr id="10" name="Google Shape;281;p50">
            <a:extLst>
              <a:ext uri="{FF2B5EF4-FFF2-40B4-BE49-F238E27FC236}">
                <a16:creationId xmlns:a16="http://schemas.microsoft.com/office/drawing/2014/main" id="{CFD47C1A-B4E5-4665-8189-C28F3A9530A9}"/>
              </a:ext>
            </a:extLst>
          </p:cNvPr>
          <p:cNvCxnSpPr>
            <a:cxnSpLocks/>
          </p:cNvCxnSpPr>
          <p:nvPr userDrawn="1"/>
        </p:nvCxnSpPr>
        <p:spPr>
          <a:xfrm>
            <a:off x="463840" y="484434"/>
            <a:ext cx="2514600" cy="0"/>
          </a:xfrm>
          <a:prstGeom prst="straightConnector1">
            <a:avLst/>
          </a:prstGeom>
          <a:noFill/>
          <a:ln w="12700" cap="flat" cmpd="sng">
            <a:solidFill>
              <a:srgbClr val="85D5E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347887295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6;p10">
            <a:extLst>
              <a:ext uri="{FF2B5EF4-FFF2-40B4-BE49-F238E27FC236}">
                <a16:creationId xmlns:a16="http://schemas.microsoft.com/office/drawing/2014/main" id="{EF0B4B41-AF40-DA43-6E3C-61199E9304A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96091" y="113019"/>
            <a:ext cx="5194074" cy="402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1600" b="0" i="0" u="none" strike="noStrike" kern="0" cap="none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TITLE GOES HERE …</a:t>
            </a:r>
            <a:endParaRPr dirty="0"/>
          </a:p>
        </p:txBody>
      </p:sp>
      <p:cxnSp>
        <p:nvCxnSpPr>
          <p:cNvPr id="7" name="Google Shape;281;p50">
            <a:extLst>
              <a:ext uri="{FF2B5EF4-FFF2-40B4-BE49-F238E27FC236}">
                <a16:creationId xmlns:a16="http://schemas.microsoft.com/office/drawing/2014/main" id="{4F9A1049-8CC2-6A1F-E4A6-E9662D06F4DB}"/>
              </a:ext>
            </a:extLst>
          </p:cNvPr>
          <p:cNvCxnSpPr>
            <a:cxnSpLocks/>
          </p:cNvCxnSpPr>
          <p:nvPr userDrawn="1"/>
        </p:nvCxnSpPr>
        <p:spPr>
          <a:xfrm>
            <a:off x="455318" y="484434"/>
            <a:ext cx="2514600" cy="0"/>
          </a:xfrm>
          <a:prstGeom prst="straightConnector1">
            <a:avLst/>
          </a:prstGeom>
          <a:noFill/>
          <a:ln w="12700" cap="flat" cmpd="sng">
            <a:solidFill>
              <a:srgbClr val="85D5E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8" name="Google Shape;32;p9">
            <a:extLst>
              <a:ext uri="{FF2B5EF4-FFF2-40B4-BE49-F238E27FC236}">
                <a16:creationId xmlns:a16="http://schemas.microsoft.com/office/drawing/2014/main" id="{331F55AD-2380-B771-54AC-716CF7C67EE7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96090" y="420857"/>
            <a:ext cx="5735699" cy="589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000" b="0" i="0" u="none" strike="noStrike" kern="0" cap="none" dirty="0">
                <a:solidFill>
                  <a:srgbClr val="FFD07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r>
              <a:rPr lang="en-US" dirty="0"/>
              <a:t>Subtitle goes here …</a:t>
            </a:r>
            <a:endParaRPr dirty="0"/>
          </a:p>
        </p:txBody>
      </p:sp>
      <p:sp>
        <p:nvSpPr>
          <p:cNvPr id="9" name="Google Shape;17;p4">
            <a:extLst>
              <a:ext uri="{FF2B5EF4-FFF2-40B4-BE49-F238E27FC236}">
                <a16:creationId xmlns:a16="http://schemas.microsoft.com/office/drawing/2014/main" id="{345C5E3F-C6BF-5AB1-63B1-1DA3334D07D9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96090" y="1162049"/>
            <a:ext cx="7985378" cy="3005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300" kern="1200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766" lvl="1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Text goes here …</a:t>
            </a:r>
            <a:endParaRPr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4312C8B-B25F-5EFE-01F3-544DA90E76DA}"/>
              </a:ext>
            </a:extLst>
          </p:cNvPr>
          <p:cNvSpPr txBox="1">
            <a:spLocks/>
          </p:cNvSpPr>
          <p:nvPr userDrawn="1"/>
        </p:nvSpPr>
        <p:spPr>
          <a:xfrm>
            <a:off x="7837247" y="4769203"/>
            <a:ext cx="863222" cy="2612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685800"/>
            <a:fld id="{F8A59C0B-2424-46FD-9890-DD87FF18FE2B}" type="slidenum">
              <a:rPr lang="en-US" sz="1050" kern="0" smtClean="0">
                <a:solidFill>
                  <a:srgbClr val="FFD074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pPr algn="r" defTabSz="685800"/>
              <a:t>‹#›</a:t>
            </a:fld>
            <a:endParaRPr lang="en-US" sz="1200" kern="0" dirty="0">
              <a:solidFill>
                <a:srgbClr val="FFD074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66192322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3356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2" r:id="rId1"/>
    <p:sldLayoutId id="2147483733" r:id="rId2"/>
    <p:sldLayoutId id="2147483736" r:id="rId3"/>
    <p:sldLayoutId id="2147483743" r:id="rId4"/>
    <p:sldLayoutId id="2147483738" r:id="rId5"/>
    <p:sldLayoutId id="2147483739" r:id="rId6"/>
    <p:sldLayoutId id="2147483741" r:id="rId7"/>
  </p:sldLayoutIdLst>
  <p:transition spd="slow"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A50E719-6280-2F6A-1CB5-EE96BDA04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Programming(1)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5D47F06-3B94-947A-F241-7EBB8EF82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b="1" dirty="0"/>
              <a:t>Sayed Mostafa </a:t>
            </a:r>
            <a:r>
              <a:rPr lang="en-US" sz="1400" b="1" dirty="0" err="1"/>
              <a:t>Modaghegh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12870854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38E83D-4274-7DD7-2A16-D959C3C8B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Programming_1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75A84E4-7B35-9B3D-7D87-2DEC907114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B1788C-902B-9296-4CDA-D69B05304BF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96090" y="1162050"/>
            <a:ext cx="7985378" cy="2253326"/>
          </a:xfrm>
        </p:spPr>
        <p:txBody>
          <a:bodyPr/>
          <a:lstStyle/>
          <a:p>
            <a:pPr marL="390521" indent="-285750">
              <a:buFont typeface="Wingdings" panose="05000000000000000000" pitchFamily="2" charset="2"/>
              <a:buChar char="ü"/>
            </a:pP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Identify and understand different data types</a:t>
            </a:r>
          </a:p>
          <a:p>
            <a:pPr marL="390521" indent="-285750">
              <a:buFont typeface="Wingdings" panose="05000000000000000000" pitchFamily="2" charset="2"/>
              <a:buChar char="ü"/>
            </a:pP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Use </a:t>
            </a:r>
            <a:r>
              <a:rPr lang="en-US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boolean</a:t>
            </a: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values (True / False)</a:t>
            </a:r>
          </a:p>
          <a:p>
            <a:pPr marL="390521" indent="-285750">
              <a:buFont typeface="Wingdings" panose="05000000000000000000" pitchFamily="2" charset="2"/>
              <a:buChar char="ü"/>
            </a:pP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Format text with f-strings</a:t>
            </a:r>
          </a:p>
          <a:p>
            <a:pPr marL="390521" indent="-285750">
              <a:buFont typeface="Wingdings" panose="05000000000000000000" pitchFamily="2" charset="2"/>
              <a:buChar char="ü"/>
            </a:pP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Create and </a:t>
            </a:r>
            <a:r>
              <a:rPr lang="en-US" b="1" spc="5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modify lists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21834137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0BE64E-B49B-3A21-E5CE-42B50DFB45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 err="1"/>
              <a:t>Boolian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80567927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0A8212-0FEA-FE85-3D12-B0A1B8B60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Boolian</a:t>
            </a:r>
            <a:endParaRPr lang="en-US" dirty="0"/>
          </a:p>
        </p:txBody>
      </p:sp>
      <p:sp>
        <p:nvSpPr>
          <p:cNvPr id="9" name="Subtitle 4">
            <a:extLst>
              <a:ext uri="{FF2B5EF4-FFF2-40B4-BE49-F238E27FC236}">
                <a16:creationId xmlns:a16="http://schemas.microsoft.com/office/drawing/2014/main" id="{4C102399-8116-CA3F-05F1-3CC2170B6979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50914" y="808111"/>
            <a:ext cx="5301471" cy="1248090"/>
          </a:xfrm>
        </p:spPr>
        <p:txBody>
          <a:bodyPr/>
          <a:lstStyle/>
          <a:p>
            <a:r>
              <a:rPr lang="en-US" sz="1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Booleans are used for logical decisions</a:t>
            </a:r>
          </a:p>
        </p:txBody>
      </p:sp>
      <p:pic>
        <p:nvPicPr>
          <p:cNvPr id="11" name="Picture 10" descr="A cartoon character pointing at a sign&#10;&#10;AI-generated content may be incorrect.">
            <a:extLst>
              <a:ext uri="{FF2B5EF4-FFF2-40B4-BE49-F238E27FC236}">
                <a16:creationId xmlns:a16="http://schemas.microsoft.com/office/drawing/2014/main" id="{8272BA7E-19C4-A23A-F322-97CF1D2DD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611" y="1792868"/>
            <a:ext cx="4159905" cy="23399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70D5A9-2122-43B8-AB54-0C6D6E0F6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28" y="1792868"/>
            <a:ext cx="3482910" cy="233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659644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F142E0-3C2D-A5F3-6EAD-1CFE29A283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f-string</a:t>
            </a:r>
          </a:p>
        </p:txBody>
      </p:sp>
    </p:spTree>
    <p:extLst>
      <p:ext uri="{BB962C8B-B14F-4D97-AF65-F5344CB8AC3E}">
        <p14:creationId xmlns:p14="http://schemas.microsoft.com/office/powerpoint/2010/main" val="905479527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0B9EE9-B684-06AB-863F-2D7F55DF8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f_string</a:t>
            </a:r>
            <a:endParaRPr lang="en-US" dirty="0"/>
          </a:p>
        </p:txBody>
      </p:sp>
      <p:pic>
        <p:nvPicPr>
          <p:cNvPr id="8" name="Picture 7" descr="A computer game with a machine&#10;&#10;AI-generated content may be incorrect.">
            <a:extLst>
              <a:ext uri="{FF2B5EF4-FFF2-40B4-BE49-F238E27FC236}">
                <a16:creationId xmlns:a16="http://schemas.microsoft.com/office/drawing/2014/main" id="{618259AD-394F-5A37-0FA5-FED7C6B7B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941" y="2823203"/>
            <a:ext cx="3754904" cy="2112134"/>
          </a:xfrm>
          <a:prstGeom prst="rect">
            <a:avLst/>
          </a:prstGeom>
        </p:spPr>
      </p:pic>
      <p:pic>
        <p:nvPicPr>
          <p:cNvPr id="10" name="Picture 9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4CFD63CE-D75E-54DF-2A4F-B64D3FC313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48" y="1015306"/>
            <a:ext cx="5349704" cy="162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810522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6FA411-C56F-8A36-272F-19317DD336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Datatypes</a:t>
            </a:r>
          </a:p>
        </p:txBody>
      </p:sp>
    </p:spTree>
    <p:extLst>
      <p:ext uri="{BB962C8B-B14F-4D97-AF65-F5344CB8AC3E}">
        <p14:creationId xmlns:p14="http://schemas.microsoft.com/office/powerpoint/2010/main" val="3950074520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E3A6ED-40DB-3B81-473B-201ACEDB8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Datatypes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077292-14BB-B036-D1D6-7FFD49168EB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96091" y="768433"/>
            <a:ext cx="5913876" cy="3005273"/>
          </a:xfrm>
        </p:spPr>
        <p:txBody>
          <a:bodyPr/>
          <a:lstStyle/>
          <a:p>
            <a:r>
              <a:rPr lang="en-US" sz="1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Used to store multiple values in one variable</a:t>
            </a:r>
          </a:p>
          <a:p>
            <a:r>
              <a:rPr lang="en-US" sz="1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Written with square brackets []</a:t>
            </a:r>
          </a:p>
          <a:p>
            <a:endParaRPr lang="en-US" sz="18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10" name="Picture 9" descr="A video game screen with a computer game&#10;&#10;AI-generated content may be incorrect.">
            <a:extLst>
              <a:ext uri="{FF2B5EF4-FFF2-40B4-BE49-F238E27FC236}">
                <a16:creationId xmlns:a16="http://schemas.microsoft.com/office/drawing/2014/main" id="{780F7C6A-1D40-D652-87AF-94B85A52C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463" y="1875984"/>
            <a:ext cx="4572000" cy="2571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625337-1425-DB6E-A137-5F1B3C67E2BB}"/>
              </a:ext>
            </a:extLst>
          </p:cNvPr>
          <p:cNvSpPr txBox="1"/>
          <p:nvPr/>
        </p:nvSpPr>
        <p:spPr>
          <a:xfrm>
            <a:off x="2286000" y="2420573"/>
            <a:ext cx="4572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59067C-D8FE-E1A6-CF83-0BA7B50FB1A3}"/>
              </a:ext>
            </a:extLst>
          </p:cNvPr>
          <p:cNvSpPr txBox="1"/>
          <p:nvPr/>
        </p:nvSpPr>
        <p:spPr>
          <a:xfrm>
            <a:off x="2286000" y="2420573"/>
            <a:ext cx="4572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C04255-54D7-19AD-460D-2353F5F19915}"/>
              </a:ext>
            </a:extLst>
          </p:cNvPr>
          <p:cNvSpPr txBox="1"/>
          <p:nvPr/>
        </p:nvSpPr>
        <p:spPr>
          <a:xfrm>
            <a:off x="417286" y="49524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 ExtraBold"/>
              <a:buNone/>
              <a:tabLst/>
              <a:defRPr/>
            </a:pPr>
            <a:r>
              <a:rPr lang="en-US" sz="2000" kern="0" dirty="0">
                <a:solidFill>
                  <a:srgbClr val="FFD074"/>
                </a:solidFill>
                <a:latin typeface="Montserrat ExtraBold"/>
                <a:sym typeface="Montserrat ExtraBold"/>
              </a:rPr>
              <a:t>List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FFD074"/>
              </a:solidFill>
              <a:effectLst/>
              <a:uLnTx/>
              <a:uFillTx/>
              <a:latin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886902806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3ECA4-B554-407F-ADDA-F759BC6CB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Datatypes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CE020-39CB-8682-6A05-B10C2D0318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List Example</a:t>
            </a:r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4B52E9D-67AC-FC80-5097-06D5B9629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41" y="1200794"/>
            <a:ext cx="6041999" cy="226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547272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9D2F0-F128-3F90-2EA8-E76156215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Datatypes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6E72E2-F6C2-C121-23D6-7EC9424F43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Modifying Lists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CB166-7991-6456-FED0-FF488FEA967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96090" y="1162049"/>
            <a:ext cx="7985378" cy="933199"/>
          </a:xfrm>
        </p:spPr>
        <p:txBody>
          <a:bodyPr/>
          <a:lstStyle/>
          <a:p>
            <a:r>
              <a:rPr lang="en-US" sz="1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Lists are mutable → you can change them.</a:t>
            </a:r>
          </a:p>
        </p:txBody>
      </p:sp>
      <p:pic>
        <p:nvPicPr>
          <p:cNvPr id="6" name="Picture 5" descr="A screenshot of a computer program">
            <a:extLst>
              <a:ext uri="{FF2B5EF4-FFF2-40B4-BE49-F238E27FC236}">
                <a16:creationId xmlns:a16="http://schemas.microsoft.com/office/drawing/2014/main" id="{58344A68-700C-71EF-6789-776D04135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22" y="1991148"/>
            <a:ext cx="5377647" cy="199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070989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42EAC-684F-E2E6-8536-EF09BB769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Datatypes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B0B65F-8005-A9E2-72FA-A9A4EA7C21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Tuple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F2A959-D691-058D-49C7-C8B196608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74656"/>
            <a:ext cx="1635020" cy="919699"/>
          </a:xfrm>
          <a:prstGeom prst="rect">
            <a:avLst/>
          </a:prstGeom>
        </p:spPr>
      </p:pic>
      <p:pic>
        <p:nvPicPr>
          <p:cNvPr id="8" name="Picture 7" descr="A diagram of a python code&#10;&#10;AI-generated content may be incorrect.">
            <a:extLst>
              <a:ext uri="{FF2B5EF4-FFF2-40B4-BE49-F238E27FC236}">
                <a16:creationId xmlns:a16="http://schemas.microsoft.com/office/drawing/2014/main" id="{60F02FCF-ADFD-3C1C-F7B9-D9241DA09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30" y="1093456"/>
            <a:ext cx="5891771" cy="346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362492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5175F-1A28-8FA8-51DC-46DA1E8D2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Datatypes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A39679-3E56-C9B9-655F-412B5EE5F0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50F1F4-B102-6635-768C-414BD46CA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079" y="1235349"/>
            <a:ext cx="5946787" cy="33124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CCC2C6-A206-558A-B78E-AC97DE0973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910" y="173629"/>
            <a:ext cx="1687719" cy="94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142188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F26C-D06C-85CF-85A1-1EF8F626F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Datatypes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2A53A-656C-4868-3628-2290C058DA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Dict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110255-9983-D570-5560-A0CC5D5F3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430" y="111004"/>
            <a:ext cx="1949912" cy="8924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FD8690-1BB4-5029-4B77-0EC61D42B3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39" y="1170241"/>
            <a:ext cx="5655990" cy="346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29217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F1ECB0-18BD-4FA1-91BE-AE1A1113DE1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176462" y="535940"/>
            <a:ext cx="4791075" cy="64611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Thank You</a:t>
            </a:r>
          </a:p>
        </p:txBody>
      </p:sp>
      <p:pic>
        <p:nvPicPr>
          <p:cNvPr id="6" name="Graphic 5" descr="Email with solid fill">
            <a:extLst>
              <a:ext uri="{FF2B5EF4-FFF2-40B4-BE49-F238E27FC236}">
                <a16:creationId xmlns:a16="http://schemas.microsoft.com/office/drawing/2014/main" id="{21BD309E-BA27-4490-BF9C-0C19B0C48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0544" y="2742864"/>
            <a:ext cx="358517" cy="358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06EEFA-3207-48A7-88E8-EA57343BA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9" y="1467773"/>
            <a:ext cx="923363" cy="11039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AEEC1B-9C1E-4DCD-A4D6-2BDFE07E8B9B}"/>
              </a:ext>
            </a:extLst>
          </p:cNvPr>
          <p:cNvSpPr txBox="1"/>
          <p:nvPr/>
        </p:nvSpPr>
        <p:spPr>
          <a:xfrm>
            <a:off x="2709803" y="1604262"/>
            <a:ext cx="2624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About me:</a:t>
            </a: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Sayed Mostafa </a:t>
            </a:r>
            <a:r>
              <a:rPr lang="en-US" sz="12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Modaghegh</a:t>
            </a:r>
            <a:endParaRPr lang="en-US" sz="1200" dirty="0">
              <a:solidFill>
                <a:schemeClr val="accent5">
                  <a:lumMod val="40000"/>
                  <a:lumOff val="60000"/>
                </a:schemeClr>
              </a:solidFill>
              <a:latin typeface="Montserrat ExtraBold" panose="00000900000000000000" pitchFamily="2" charset="0"/>
            </a:endParaRP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AI and Robotics student</a:t>
            </a: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Computer vision developer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9AF9A0-62AD-4B9F-B813-9D8E0C3C1A63}"/>
              </a:ext>
            </a:extLst>
          </p:cNvPr>
          <p:cNvSpPr txBox="1"/>
          <p:nvPr/>
        </p:nvSpPr>
        <p:spPr>
          <a:xfrm>
            <a:off x="2889061" y="2814700"/>
            <a:ext cx="35864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Sm.mostafa79modaqeq@gmail.com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C05FC8-A469-4BBE-9682-7B46D9FABA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874" y="3258944"/>
            <a:ext cx="300083" cy="3000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649A78-2575-431A-BE3D-C202F6A2EF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05230" y="3258944"/>
            <a:ext cx="300082" cy="30008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58B7FC-0C15-45FB-B572-124390E4AA47}"/>
              </a:ext>
            </a:extLst>
          </p:cNvPr>
          <p:cNvSpPr txBox="1"/>
          <p:nvPr/>
        </p:nvSpPr>
        <p:spPr>
          <a:xfrm>
            <a:off x="3174140" y="3258944"/>
            <a:ext cx="30163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@mostafa_modaghegh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3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7" grpId="0"/>
    </p:bldLst>
  </p:timing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6610</TotalTime>
  <Words>111</Words>
  <Application>Microsoft Office PowerPoint</Application>
  <PresentationFormat>On-screen Show (16:9)</PresentationFormat>
  <Paragraphs>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Aptos</vt:lpstr>
      <vt:lpstr>Aharoni</vt:lpstr>
      <vt:lpstr>Wingdings</vt:lpstr>
      <vt:lpstr>Montserrat ExtraLight</vt:lpstr>
      <vt:lpstr>Posterama</vt:lpstr>
      <vt:lpstr>Arial</vt:lpstr>
      <vt:lpstr>Montserrat ExtraBold</vt:lpstr>
      <vt:lpstr>Montserrat</vt:lpstr>
      <vt:lpstr>Khmer UI</vt:lpstr>
      <vt:lpstr>Futuristic Background by Slidesgo</vt:lpstr>
      <vt:lpstr>Programming(1)</vt:lpstr>
      <vt:lpstr>Programming_1</vt:lpstr>
      <vt:lpstr>Boolian</vt:lpstr>
      <vt:lpstr>Boolian</vt:lpstr>
      <vt:lpstr>f-string</vt:lpstr>
      <vt:lpstr>f_string</vt:lpstr>
      <vt:lpstr>Datatypes</vt:lpstr>
      <vt:lpstr>Datatypes</vt:lpstr>
      <vt:lpstr>Datatypes</vt:lpstr>
      <vt:lpstr>Datatypes</vt:lpstr>
      <vt:lpstr>Datatypes</vt:lpstr>
      <vt:lpstr>Datatypes</vt:lpstr>
      <vt:lpstr>Datatypes</vt:lpstr>
      <vt:lpstr>Thank You</vt:lpstr>
    </vt:vector>
  </TitlesOfParts>
  <Manager>Mortaza Nabavi</Manager>
  <Company>Gharjistan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Circuits</dc:title>
  <dc:subject>Logic Circuits</dc:subject>
  <dc:creator>Mortaza Nabavi</dc:creator>
  <cp:keywords>Logic Circuits</cp:keywords>
  <cp:lastModifiedBy>Mostafi</cp:lastModifiedBy>
  <cp:revision>256</cp:revision>
  <dcterms:created xsi:type="dcterms:W3CDTF">2024-12-02T14:00:11Z</dcterms:created>
  <dcterms:modified xsi:type="dcterms:W3CDTF">2025-10-26T08:55:35Z</dcterms:modified>
  <cp:category>Logic Circuits</cp:category>
</cp:coreProperties>
</file>