
<file path=[Content_Types].xml><?xml version="1.0" encoding="utf-8"?>
<Types xmlns="http://schemas.openxmlformats.org/package/2006/content-types">
  <Default Extension="fntdata" ContentType="application/x-fontdata"/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72" r:id="rId1"/>
  </p:sldMasterIdLst>
  <p:notesMasterIdLst>
    <p:notesMasterId r:id="rId17"/>
  </p:notesMasterIdLst>
  <p:sldIdLst>
    <p:sldId id="413" r:id="rId2"/>
    <p:sldId id="452" r:id="rId3"/>
    <p:sldId id="451" r:id="rId4"/>
    <p:sldId id="453" r:id="rId5"/>
    <p:sldId id="454" r:id="rId6"/>
    <p:sldId id="455" r:id="rId7"/>
    <p:sldId id="457" r:id="rId8"/>
    <p:sldId id="456" r:id="rId9"/>
    <p:sldId id="458" r:id="rId10"/>
    <p:sldId id="459" r:id="rId11"/>
    <p:sldId id="461" r:id="rId12"/>
    <p:sldId id="463" r:id="rId13"/>
    <p:sldId id="460" r:id="rId14"/>
    <p:sldId id="462" r:id="rId15"/>
    <p:sldId id="450" r:id="rId16"/>
  </p:sldIdLst>
  <p:sldSz cx="9144000" cy="5143500" type="screen16x9"/>
  <p:notesSz cx="6858000" cy="9144000"/>
  <p:embeddedFontLst>
    <p:embeddedFont>
      <p:font typeface="Aharoni" panose="02010803020104030203" pitchFamily="2" charset="-79"/>
      <p:bold r:id="rId18"/>
    </p:embeddedFont>
    <p:embeddedFont>
      <p:font typeface="Khmer UI" panose="020B0502040204020203" pitchFamily="34" charset="0"/>
      <p:regular r:id="rId19"/>
      <p:bold r:id="rId20"/>
    </p:embeddedFont>
    <p:embeddedFont>
      <p:font typeface="Montserrat" panose="00000500000000000000" pitchFamily="2" charset="0"/>
      <p:regular r:id="rId21"/>
      <p:bold r:id="rId22"/>
      <p:italic r:id="rId23"/>
      <p:boldItalic r:id="rId24"/>
    </p:embeddedFont>
    <p:embeddedFont>
      <p:font typeface="Montserrat ExtraBold" panose="00000900000000000000" pitchFamily="2" charset="0"/>
      <p:bold r:id="rId25"/>
      <p:boldItalic r:id="rId26"/>
    </p:embeddedFont>
    <p:embeddedFont>
      <p:font typeface="Montserrat ExtraLight" panose="00000300000000000000" pitchFamily="2" charset="0"/>
      <p:regular r:id="rId27"/>
      <p:italic r:id="rId28"/>
    </p:embeddedFont>
    <p:embeddedFont>
      <p:font typeface="Posterama" panose="020B0504020200020000" pitchFamily="34" charset="0"/>
      <p:regular r:id="rId29"/>
      <p:bold r:id="rId30"/>
      <p:italic r:id="rId31"/>
      <p:boldItalic r:id="rId32"/>
    </p:embeddedFont>
  </p:embeddedFontLst>
  <p:defaultTextStyle>
    <a:defPPr>
      <a:defRPr lang="en-US"/>
    </a:defPPr>
    <a:lvl1pPr marL="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D8B"/>
    <a:srgbClr val="72A700"/>
    <a:srgbClr val="F9F488"/>
    <a:srgbClr val="FFE6C5"/>
    <a:srgbClr val="FFAE43"/>
    <a:srgbClr val="85D5E6"/>
    <a:srgbClr val="FFD074"/>
    <a:srgbClr val="001631"/>
    <a:srgbClr val="E97132"/>
    <a:srgbClr val="747A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809" autoAdjust="0"/>
    <p:restoredTop sz="96323" autoAdjust="0"/>
  </p:normalViewPr>
  <p:slideViewPr>
    <p:cSldViewPr snapToGrid="0">
      <p:cViewPr varScale="1">
        <p:scale>
          <a:sx n="126" d="100"/>
          <a:sy n="126" d="100"/>
        </p:scale>
        <p:origin x="422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4" d="100"/>
          <a:sy n="84" d="100"/>
        </p:scale>
        <p:origin x="391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2333E3-72D9-4F8D-8968-0C5D8F107340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9271D7-2488-401D-96D1-EFC76CE69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740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457B78B-8EB0-26C4-34D1-4BA9B7FA54B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75900" y="1654825"/>
            <a:ext cx="4792200" cy="6447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85D5E6"/>
                </a:solidFill>
              </a:defRPr>
            </a:lvl1pPr>
          </a:lstStyle>
          <a:p>
            <a:r>
              <a:rPr lang="en-US" sz="4050" dirty="0"/>
              <a:t>Title</a:t>
            </a:r>
          </a:p>
        </p:txBody>
      </p:sp>
      <p:sp>
        <p:nvSpPr>
          <p:cNvPr id="4" name="Google Shape;20;p5">
            <a:extLst>
              <a:ext uri="{FF2B5EF4-FFF2-40B4-BE49-F238E27FC236}">
                <a16:creationId xmlns:a16="http://schemas.microsoft.com/office/drawing/2014/main" id="{79693BF6-B94C-D376-1789-A93C44ABD663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2107406" y="2407885"/>
            <a:ext cx="4929188" cy="4867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04771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2400" b="0" i="0" u="none" strike="noStrike" kern="0" cap="none" dirty="0">
                <a:solidFill>
                  <a:srgbClr val="FFD07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ExtraLight"/>
                <a:ea typeface="Montserrat ExtraLight"/>
                <a:cs typeface="Montserrat ExtraLight"/>
                <a:sym typeface="Montserrat ExtraBold"/>
              </a:defRPr>
            </a:lvl1pPr>
            <a:lvl2pPr marL="685766" lvl="1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028649" lvl="2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371532" lvl="3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1714415" lvl="4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057297" lvl="5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2400180" lvl="6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2743064" lvl="7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3085946" lvl="8" indent="-238113" rtl="0"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cxnSp>
        <p:nvCxnSpPr>
          <p:cNvPr id="5" name="Google Shape;165;p38">
            <a:extLst>
              <a:ext uri="{FF2B5EF4-FFF2-40B4-BE49-F238E27FC236}">
                <a16:creationId xmlns:a16="http://schemas.microsoft.com/office/drawing/2014/main" id="{6958F97A-D385-638A-6C5B-8EC5D1715C4C}"/>
              </a:ext>
            </a:extLst>
          </p:cNvPr>
          <p:cNvCxnSpPr>
            <a:cxnSpLocks/>
          </p:cNvCxnSpPr>
          <p:nvPr userDrawn="1"/>
        </p:nvCxnSpPr>
        <p:spPr>
          <a:xfrm>
            <a:off x="2651760" y="2346791"/>
            <a:ext cx="384048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1760" y="3653609"/>
            <a:ext cx="1019175" cy="1019175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3857625" y="4163197"/>
            <a:ext cx="26346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aseline="0" dirty="0">
                <a:solidFill>
                  <a:schemeClr val="tx2">
                    <a:lumMod val="60000"/>
                    <a:lumOff val="40000"/>
                  </a:schemeClr>
                </a:solidFill>
                <a:latin typeface="Khmer UI" pitchFamily="34" charset="0"/>
                <a:cs typeface="Khmer UI" pitchFamily="34" charset="0"/>
              </a:rPr>
              <a:t>fall semester 2025 _ </a:t>
            </a:r>
            <a:r>
              <a:rPr lang="en-US" sz="1200" baseline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Khmer UI" pitchFamily="34" charset="0"/>
                <a:cs typeface="Khmer UI" pitchFamily="34" charset="0"/>
              </a:rPr>
              <a:t>Gharjistan</a:t>
            </a:r>
            <a:r>
              <a:rPr lang="en-US" sz="1200" baseline="0" dirty="0">
                <a:solidFill>
                  <a:schemeClr val="tx2">
                    <a:lumMod val="60000"/>
                    <a:lumOff val="40000"/>
                  </a:schemeClr>
                </a:solidFill>
                <a:latin typeface="Khmer UI" pitchFamily="34" charset="0"/>
                <a:cs typeface="Khmer UI" pitchFamily="34" charset="0"/>
              </a:rPr>
              <a:t> </a:t>
            </a:r>
            <a:r>
              <a:rPr lang="en-US" sz="1200" baseline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Khmer UI" pitchFamily="34" charset="0"/>
                <a:cs typeface="Khmer UI" pitchFamily="34" charset="0"/>
              </a:rPr>
              <a:t>uni</a:t>
            </a:r>
            <a:endParaRPr lang="en-US" sz="1200" dirty="0">
              <a:solidFill>
                <a:schemeClr val="tx2">
                  <a:lumMod val="60000"/>
                  <a:lumOff val="40000"/>
                </a:schemeClr>
              </a:solidFill>
              <a:latin typeface="Khmer UI" pitchFamily="34" charset="0"/>
              <a:cs typeface="Khmer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872272"/>
      </p:ext>
    </p:extLst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 userDrawn="1">
  <p:cSld name="Title -No Log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F7A11C6-19AA-3E44-58A7-C914B018C1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75900" y="1654825"/>
            <a:ext cx="4792200" cy="6447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85D5E6"/>
                </a:solidFill>
              </a:defRPr>
            </a:lvl1pPr>
          </a:lstStyle>
          <a:p>
            <a:r>
              <a:rPr lang="en-US" sz="4050" dirty="0"/>
              <a:t>Title</a:t>
            </a:r>
          </a:p>
        </p:txBody>
      </p:sp>
      <p:cxnSp>
        <p:nvCxnSpPr>
          <p:cNvPr id="6" name="Google Shape;165;p38">
            <a:extLst>
              <a:ext uri="{FF2B5EF4-FFF2-40B4-BE49-F238E27FC236}">
                <a16:creationId xmlns:a16="http://schemas.microsoft.com/office/drawing/2014/main" id="{1E131CE8-B620-0118-54DC-E0B7B5A813DD}"/>
              </a:ext>
            </a:extLst>
          </p:cNvPr>
          <p:cNvCxnSpPr>
            <a:cxnSpLocks/>
          </p:cNvCxnSpPr>
          <p:nvPr userDrawn="1"/>
        </p:nvCxnSpPr>
        <p:spPr>
          <a:xfrm>
            <a:off x="2651760" y="2346791"/>
            <a:ext cx="384048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1" name="Google Shape;20;p5">
            <a:extLst>
              <a:ext uri="{FF2B5EF4-FFF2-40B4-BE49-F238E27FC236}">
                <a16:creationId xmlns:a16="http://schemas.microsoft.com/office/drawing/2014/main" id="{EA059631-C19E-991D-6D01-BE23FB703388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2107406" y="2407885"/>
            <a:ext cx="4929188" cy="4867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04771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2400" b="0" i="0" u="none" strike="noStrike" kern="0" cap="none" dirty="0">
                <a:solidFill>
                  <a:srgbClr val="FFD07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ExtraLight"/>
                <a:ea typeface="Montserrat ExtraLight"/>
                <a:cs typeface="Montserrat ExtraLight"/>
                <a:sym typeface="Montserrat ExtraBold"/>
              </a:defRPr>
            </a:lvl1pPr>
            <a:lvl2pPr marL="685766" lvl="1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028649" lvl="2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371532" lvl="3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1714415" lvl="4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057297" lvl="5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2400180" lvl="6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2743064" lvl="7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3085946" lvl="8" indent="-238113" rtl="0"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1" y="4295774"/>
            <a:ext cx="685799" cy="68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72760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ext" preserve="1" userDrawn="1">
  <p:cSld name="Section 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CC644-0069-AB3E-B406-3479FF69F9B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75900" y="2249400"/>
            <a:ext cx="4792200" cy="6447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85D5E6"/>
                </a:solidFill>
              </a:defRPr>
            </a:lvl1pPr>
          </a:lstStyle>
          <a:p>
            <a:r>
              <a:rPr lang="en-US" sz="4050" dirty="0"/>
              <a:t>Title</a:t>
            </a:r>
          </a:p>
        </p:txBody>
      </p:sp>
      <p:cxnSp>
        <p:nvCxnSpPr>
          <p:cNvPr id="3" name="Google Shape;165;p38">
            <a:extLst>
              <a:ext uri="{FF2B5EF4-FFF2-40B4-BE49-F238E27FC236}">
                <a16:creationId xmlns:a16="http://schemas.microsoft.com/office/drawing/2014/main" id="{502F4F22-45C1-4753-A4B4-178CCF92C488}"/>
              </a:ext>
            </a:extLst>
          </p:cNvPr>
          <p:cNvCxnSpPr>
            <a:cxnSpLocks/>
          </p:cNvCxnSpPr>
          <p:nvPr userDrawn="1"/>
        </p:nvCxnSpPr>
        <p:spPr>
          <a:xfrm>
            <a:off x="2651760" y="2941366"/>
            <a:ext cx="384048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4" name="Google Shape;20;p5">
            <a:extLst>
              <a:ext uri="{FF2B5EF4-FFF2-40B4-BE49-F238E27FC236}">
                <a16:creationId xmlns:a16="http://schemas.microsoft.com/office/drawing/2014/main" id="{2ECA98E3-F378-0703-E813-0F1EBA84AEEB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2107406" y="3002460"/>
            <a:ext cx="4929188" cy="4867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04771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2400" b="0" i="0" u="none" strike="noStrike" kern="0" cap="none" dirty="0">
                <a:solidFill>
                  <a:srgbClr val="FFD07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ExtraLight"/>
                <a:ea typeface="Montserrat ExtraLight"/>
                <a:cs typeface="Montserrat ExtraLight"/>
                <a:sym typeface="Montserrat ExtraBold"/>
              </a:defRPr>
            </a:lvl1pPr>
            <a:lvl2pPr marL="685766" lvl="1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028649" lvl="2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371532" lvl="3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1714415" lvl="4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057297" lvl="5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2400180" lvl="6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2743064" lvl="7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3085946" lvl="8" indent="-238113" rtl="0"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Subtitle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94598094"/>
      </p:ext>
    </p:extLst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oogle Shape;165;p38">
            <a:extLst>
              <a:ext uri="{FF2B5EF4-FFF2-40B4-BE49-F238E27FC236}">
                <a16:creationId xmlns:a16="http://schemas.microsoft.com/office/drawing/2014/main" id="{5FB02F9F-884B-4495-B25D-AB2D27F8BDA9}"/>
              </a:ext>
            </a:extLst>
          </p:cNvPr>
          <p:cNvCxnSpPr>
            <a:cxnSpLocks/>
          </p:cNvCxnSpPr>
          <p:nvPr userDrawn="1"/>
        </p:nvCxnSpPr>
        <p:spPr>
          <a:xfrm>
            <a:off x="2651760" y="1303659"/>
            <a:ext cx="384048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4129877323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1" y="4295774"/>
            <a:ext cx="685799" cy="685799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904875" y="4725824"/>
            <a:ext cx="1581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Mostafa</a:t>
            </a:r>
            <a:r>
              <a:rPr lang="en-US" sz="1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 </a:t>
            </a:r>
            <a:r>
              <a:rPr lang="en-US" sz="1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Modaghegh</a:t>
            </a:r>
            <a:endParaRPr lang="en-US" sz="1000" dirty="0">
              <a:solidFill>
                <a:schemeClr val="accent1">
                  <a:lumMod val="60000"/>
                  <a:lumOff val="40000"/>
                </a:schemeClr>
              </a:solidFill>
              <a:latin typeface="Aharoni" pitchFamily="2" charset="-79"/>
              <a:cs typeface="Aharoni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82140121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2;p9">
            <a:extLst>
              <a:ext uri="{FF2B5EF4-FFF2-40B4-BE49-F238E27FC236}">
                <a16:creationId xmlns:a16="http://schemas.microsoft.com/office/drawing/2014/main" id="{EDCFF91D-84B0-43AC-0860-DF47CEB52A30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404612" y="420857"/>
            <a:ext cx="5735699" cy="5897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000" b="0" i="0" u="none" strike="noStrike" kern="0" cap="none" dirty="0">
                <a:solidFill>
                  <a:srgbClr val="FFD074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9pPr>
          </a:lstStyle>
          <a:p>
            <a:r>
              <a:rPr lang="en-US" dirty="0"/>
              <a:t>Subtitle goes here …</a:t>
            </a:r>
            <a:endParaRPr dirty="0"/>
          </a:p>
        </p:txBody>
      </p:sp>
      <p:sp>
        <p:nvSpPr>
          <p:cNvPr id="5" name="Google Shape;17;p4">
            <a:extLst>
              <a:ext uri="{FF2B5EF4-FFF2-40B4-BE49-F238E27FC236}">
                <a16:creationId xmlns:a16="http://schemas.microsoft.com/office/drawing/2014/main" id="{345C5E3F-C6BF-5AB1-63B1-1DA3334D07D9}"/>
              </a:ext>
            </a:extLst>
          </p:cNvPr>
          <p:cNvSpPr txBox="1">
            <a:spLocks noGrp="1"/>
          </p:cNvSpPr>
          <p:nvPr>
            <p:ph type="body" idx="10" hasCustomPrompt="1"/>
          </p:nvPr>
        </p:nvSpPr>
        <p:spPr>
          <a:xfrm>
            <a:off x="396090" y="1162049"/>
            <a:ext cx="7985378" cy="30052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04771" lv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300" kern="1200" dirty="0">
                <a:solidFill>
                  <a:schemeClr val="bg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766" lvl="1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028649" lvl="2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371532" lvl="3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1714415" lvl="4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057297" lvl="5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2400180" lvl="6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2743064" lvl="7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3085946" lvl="8" indent="-238113"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Text goes here …</a:t>
            </a:r>
            <a:endParaRPr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1" y="4295774"/>
            <a:ext cx="685799" cy="685799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904875" y="4725824"/>
            <a:ext cx="1581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Mostafa</a:t>
            </a:r>
            <a:r>
              <a:rPr lang="en-US" sz="1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 </a:t>
            </a:r>
            <a:r>
              <a:rPr lang="en-US" sz="1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Modaghegh</a:t>
            </a:r>
            <a:endParaRPr lang="en-US" sz="1000" dirty="0">
              <a:solidFill>
                <a:schemeClr val="accent1">
                  <a:lumMod val="60000"/>
                  <a:lumOff val="40000"/>
                </a:schemeClr>
              </a:solidFill>
              <a:latin typeface="Aharoni" pitchFamily="2" charset="-79"/>
              <a:cs typeface="Aharoni" pitchFamily="2" charset="-79"/>
            </a:endParaRPr>
          </a:p>
        </p:txBody>
      </p:sp>
      <p:sp>
        <p:nvSpPr>
          <p:cNvPr id="8" name="Google Shape;36;p10">
            <a:extLst>
              <a:ext uri="{FF2B5EF4-FFF2-40B4-BE49-F238E27FC236}">
                <a16:creationId xmlns:a16="http://schemas.microsoft.com/office/drawing/2014/main" id="{E5E23F22-CC2F-45A0-82E7-1BCE0E8AF206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404613" y="113019"/>
            <a:ext cx="5194074" cy="4020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1600" b="0" i="0" u="none" strike="noStrike" kern="0" cap="none" dirty="0">
                <a:solidFill>
                  <a:schemeClr val="accen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TITLE GOES HERE …</a:t>
            </a:r>
            <a:endParaRPr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0915234F-9F30-4B8E-821A-4CA11ECA768E}"/>
              </a:ext>
            </a:extLst>
          </p:cNvPr>
          <p:cNvSpPr txBox="1">
            <a:spLocks/>
          </p:cNvSpPr>
          <p:nvPr userDrawn="1"/>
        </p:nvSpPr>
        <p:spPr>
          <a:xfrm>
            <a:off x="7837247" y="4769203"/>
            <a:ext cx="863222" cy="26128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 defTabSz="685800"/>
            <a:fld id="{F8A59C0B-2424-46FD-9890-DD87FF18FE2B}" type="slidenum">
              <a:rPr lang="en-US" sz="1050" kern="0" smtClean="0">
                <a:solidFill>
                  <a:srgbClr val="FFD074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pPr algn="r" defTabSz="685800"/>
              <a:t>‹#›</a:t>
            </a:fld>
            <a:endParaRPr lang="en-US" sz="1200" kern="0" dirty="0">
              <a:solidFill>
                <a:srgbClr val="FFD074"/>
              </a:solidFill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cxnSp>
        <p:nvCxnSpPr>
          <p:cNvPr id="10" name="Google Shape;281;p50">
            <a:extLst>
              <a:ext uri="{FF2B5EF4-FFF2-40B4-BE49-F238E27FC236}">
                <a16:creationId xmlns:a16="http://schemas.microsoft.com/office/drawing/2014/main" id="{CFD47C1A-B4E5-4665-8189-C28F3A9530A9}"/>
              </a:ext>
            </a:extLst>
          </p:cNvPr>
          <p:cNvCxnSpPr>
            <a:cxnSpLocks/>
          </p:cNvCxnSpPr>
          <p:nvPr userDrawn="1"/>
        </p:nvCxnSpPr>
        <p:spPr>
          <a:xfrm>
            <a:off x="463840" y="484434"/>
            <a:ext cx="2514600" cy="0"/>
          </a:xfrm>
          <a:prstGeom prst="straightConnector1">
            <a:avLst/>
          </a:prstGeom>
          <a:noFill/>
          <a:ln w="12700" cap="flat" cmpd="sng">
            <a:solidFill>
              <a:srgbClr val="85D5E6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3347887295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preserve="1" userDrawn="1">
  <p:cSld name="1_Title and 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6;p10">
            <a:extLst>
              <a:ext uri="{FF2B5EF4-FFF2-40B4-BE49-F238E27FC236}">
                <a16:creationId xmlns:a16="http://schemas.microsoft.com/office/drawing/2014/main" id="{EF0B4B41-AF40-DA43-6E3C-61199E9304A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96091" y="113019"/>
            <a:ext cx="5194074" cy="4020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1600" b="0" i="0" u="none" strike="noStrike" kern="0" cap="none" dirty="0">
                <a:solidFill>
                  <a:schemeClr val="accen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TITLE GOES HERE …</a:t>
            </a:r>
            <a:endParaRPr dirty="0"/>
          </a:p>
        </p:txBody>
      </p:sp>
      <p:cxnSp>
        <p:nvCxnSpPr>
          <p:cNvPr id="7" name="Google Shape;281;p50">
            <a:extLst>
              <a:ext uri="{FF2B5EF4-FFF2-40B4-BE49-F238E27FC236}">
                <a16:creationId xmlns:a16="http://schemas.microsoft.com/office/drawing/2014/main" id="{4F9A1049-8CC2-6A1F-E4A6-E9662D06F4DB}"/>
              </a:ext>
            </a:extLst>
          </p:cNvPr>
          <p:cNvCxnSpPr>
            <a:cxnSpLocks/>
          </p:cNvCxnSpPr>
          <p:nvPr userDrawn="1"/>
        </p:nvCxnSpPr>
        <p:spPr>
          <a:xfrm>
            <a:off x="455318" y="484434"/>
            <a:ext cx="2514600" cy="0"/>
          </a:xfrm>
          <a:prstGeom prst="straightConnector1">
            <a:avLst/>
          </a:prstGeom>
          <a:noFill/>
          <a:ln w="12700" cap="flat" cmpd="sng">
            <a:solidFill>
              <a:srgbClr val="85D5E6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8" name="Google Shape;32;p9">
            <a:extLst>
              <a:ext uri="{FF2B5EF4-FFF2-40B4-BE49-F238E27FC236}">
                <a16:creationId xmlns:a16="http://schemas.microsoft.com/office/drawing/2014/main" id="{331F55AD-2380-B771-54AC-716CF7C67EE7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396090" y="420857"/>
            <a:ext cx="5735699" cy="5897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000" b="0" i="0" u="none" strike="noStrike" kern="0" cap="none" dirty="0">
                <a:solidFill>
                  <a:srgbClr val="FFD074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9pPr>
          </a:lstStyle>
          <a:p>
            <a:r>
              <a:rPr lang="en-US" dirty="0"/>
              <a:t>Subtitle goes here …</a:t>
            </a:r>
            <a:endParaRPr dirty="0"/>
          </a:p>
        </p:txBody>
      </p:sp>
      <p:sp>
        <p:nvSpPr>
          <p:cNvPr id="9" name="Google Shape;17;p4">
            <a:extLst>
              <a:ext uri="{FF2B5EF4-FFF2-40B4-BE49-F238E27FC236}">
                <a16:creationId xmlns:a16="http://schemas.microsoft.com/office/drawing/2014/main" id="{345C5E3F-C6BF-5AB1-63B1-1DA3334D07D9}"/>
              </a:ext>
            </a:extLst>
          </p:cNvPr>
          <p:cNvSpPr txBox="1">
            <a:spLocks noGrp="1"/>
          </p:cNvSpPr>
          <p:nvPr>
            <p:ph type="body" idx="10" hasCustomPrompt="1"/>
          </p:nvPr>
        </p:nvSpPr>
        <p:spPr>
          <a:xfrm>
            <a:off x="396090" y="1162049"/>
            <a:ext cx="7985378" cy="30052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04771" lv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300" kern="1200" dirty="0">
                <a:solidFill>
                  <a:schemeClr val="bg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766" lvl="1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028649" lvl="2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371532" lvl="3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1714415" lvl="4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057297" lvl="5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2400180" lvl="6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2743064" lvl="7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3085946" lvl="8" indent="-238113"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Text goes here …</a:t>
            </a:r>
            <a:endParaRPr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54312C8B-B25F-5EFE-01F3-544DA90E76DA}"/>
              </a:ext>
            </a:extLst>
          </p:cNvPr>
          <p:cNvSpPr txBox="1">
            <a:spLocks/>
          </p:cNvSpPr>
          <p:nvPr userDrawn="1"/>
        </p:nvSpPr>
        <p:spPr>
          <a:xfrm>
            <a:off x="7837247" y="4769203"/>
            <a:ext cx="863222" cy="26128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 defTabSz="685800"/>
            <a:fld id="{F8A59C0B-2424-46FD-9890-DD87FF18FE2B}" type="slidenum">
              <a:rPr lang="en-US" sz="1050" kern="0" smtClean="0">
                <a:solidFill>
                  <a:srgbClr val="FFD074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pPr algn="r" defTabSz="685800"/>
              <a:t>‹#›</a:t>
            </a:fld>
            <a:endParaRPr lang="en-US" sz="1200" kern="0" dirty="0">
              <a:solidFill>
                <a:srgbClr val="FFD074"/>
              </a:solidFill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1" y="4295774"/>
            <a:ext cx="685799" cy="685799"/>
          </a:xfrm>
          <a:prstGeom prst="rect">
            <a:avLst/>
          </a:prstGeom>
        </p:spPr>
      </p:pic>
      <p:sp>
        <p:nvSpPr>
          <p:cNvPr id="15" name="TextBox 14"/>
          <p:cNvSpPr txBox="1"/>
          <p:nvPr userDrawn="1"/>
        </p:nvSpPr>
        <p:spPr>
          <a:xfrm>
            <a:off x="904875" y="4725824"/>
            <a:ext cx="1581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Mostafa</a:t>
            </a:r>
            <a:r>
              <a:rPr lang="en-US" sz="1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 </a:t>
            </a:r>
            <a:r>
              <a:rPr lang="en-US" sz="1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Modaghegh</a:t>
            </a:r>
            <a:endParaRPr lang="en-US" sz="1000" dirty="0">
              <a:solidFill>
                <a:schemeClr val="accent1">
                  <a:lumMod val="60000"/>
                  <a:lumOff val="40000"/>
                </a:schemeClr>
              </a:solidFill>
              <a:latin typeface="Aharoni" pitchFamily="2" charset="-79"/>
              <a:cs typeface="Aharoni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866192322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733565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42" r:id="rId1"/>
    <p:sldLayoutId id="2147483733" r:id="rId2"/>
    <p:sldLayoutId id="2147483736" r:id="rId3"/>
    <p:sldLayoutId id="2147483743" r:id="rId4"/>
    <p:sldLayoutId id="2147483738" r:id="rId5"/>
    <p:sldLayoutId id="2147483739" r:id="rId6"/>
    <p:sldLayoutId id="2147483741" r:id="rId7"/>
  </p:sldLayoutIdLst>
  <p:transition spd="slow">
    <p:fade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fi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jpeg"/><Relationship Id="rId5" Type="http://schemas.openxmlformats.org/officeDocument/2006/relationships/image" Target="../media/image24.png"/><Relationship Id="rId4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A50E719-6280-2F6A-1CB5-EE96BDA04C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>
                <a:latin typeface="Aharoni" panose="02010803020104030203" pitchFamily="2" charset="-79"/>
                <a:cs typeface="Aharoni" panose="02010803020104030203" pitchFamily="2" charset="-79"/>
              </a:rPr>
              <a:t>Programming(4)</a:t>
            </a:r>
            <a:endParaRPr lang="en-US" sz="4000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5D47F06-3B94-947A-F241-7EBB8EF82C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b="1" dirty="0"/>
              <a:t>Sayed Mostafa </a:t>
            </a:r>
            <a:r>
              <a:rPr lang="en-US" sz="1400" b="1" dirty="0" err="1"/>
              <a:t>Modaghegh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812870854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438E83D-4274-7DD7-2A16-D959C3C8B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Programming_4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75A84E4-7B35-9B3D-7D87-2DEC907114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2B1788C-902B-9296-4CDA-D69B05304BF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396090" y="935951"/>
            <a:ext cx="7985378" cy="2253326"/>
          </a:xfrm>
        </p:spPr>
        <p:txBody>
          <a:bodyPr/>
          <a:lstStyle/>
          <a:p>
            <a:pPr marL="390521" indent="-285750">
              <a:buFont typeface="Wingdings" panose="05000000000000000000" pitchFamily="2" charset="2"/>
              <a:buChar char="ü"/>
            </a:pPr>
            <a:r>
              <a:rPr lang="en-US" sz="1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Understand how loops help repeat code efficiently</a:t>
            </a:r>
          </a:p>
          <a:p>
            <a:pPr marL="390521" indent="-285750">
              <a:buFont typeface="Wingdings" panose="05000000000000000000" pitchFamily="2" charset="2"/>
              <a:buChar char="ü"/>
            </a:pPr>
            <a:r>
              <a:rPr lang="en-US" sz="1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Use for and while loops for repetition</a:t>
            </a:r>
          </a:p>
          <a:p>
            <a:pPr marL="390521" indent="-285750">
              <a:buFont typeface="Wingdings" panose="05000000000000000000" pitchFamily="2" charset="2"/>
              <a:buChar char="ü"/>
            </a:pPr>
            <a:r>
              <a:rPr lang="en-US" sz="1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Apply break and continue to control loops</a:t>
            </a:r>
          </a:p>
          <a:p>
            <a:pPr marL="390521" indent="-285750">
              <a:buFont typeface="Wingdings" panose="05000000000000000000" pitchFamily="2" charset="2"/>
              <a:buChar char="ü"/>
            </a:pPr>
            <a:r>
              <a:rPr lang="en-US" sz="1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Use an accumulator variable to keep running totals</a:t>
            </a:r>
          </a:p>
          <a:p>
            <a:pPr marL="390521" indent="-285750">
              <a:buFont typeface="Wingdings" panose="05000000000000000000" pitchFamily="2" charset="2"/>
              <a:buChar char="ü"/>
            </a:pPr>
            <a:r>
              <a:rPr lang="en-US" sz="1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Compare for and while loops</a:t>
            </a:r>
          </a:p>
        </p:txBody>
      </p:sp>
    </p:spTree>
    <p:extLst>
      <p:ext uri="{BB962C8B-B14F-4D97-AF65-F5344CB8AC3E}">
        <p14:creationId xmlns:p14="http://schemas.microsoft.com/office/powerpoint/2010/main" val="2421834137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2F1C7-4FE6-3FD5-61A3-1386387C2A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dirty="0"/>
              <a:t>Accumulators</a:t>
            </a:r>
          </a:p>
        </p:txBody>
      </p:sp>
    </p:spTree>
    <p:extLst>
      <p:ext uri="{BB962C8B-B14F-4D97-AF65-F5344CB8AC3E}">
        <p14:creationId xmlns:p14="http://schemas.microsoft.com/office/powerpoint/2010/main" val="334449200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85AA812-F260-BD90-8FFA-02EE523B4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/>
              <a:t>Accumulators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B31D329-0385-B906-FA7F-7167348ECB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Why do we need accumulators?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225E5EA-ADAD-DAB2-E8D5-6F51C409B856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396090" y="1162049"/>
            <a:ext cx="7985378" cy="957421"/>
          </a:xfrm>
        </p:spPr>
        <p:txBody>
          <a:bodyPr/>
          <a:lstStyle/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When we need to keep a running total (like sum, count, or average),</a:t>
            </a:r>
          </a:p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we use a variable that “remembers” the previous value.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A5F75C3-0EEF-FE9A-C5B2-A8400F79C8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8933" y="2119470"/>
            <a:ext cx="3368332" cy="119644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2D1FF6D-FE10-1B2C-5014-C27D3316FF44}"/>
              </a:ext>
            </a:extLst>
          </p:cNvPr>
          <p:cNvSpPr txBox="1"/>
          <p:nvPr/>
        </p:nvSpPr>
        <p:spPr>
          <a:xfrm>
            <a:off x="1562352" y="3415375"/>
            <a:ext cx="420260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This variable total is called an accumulator</a:t>
            </a:r>
          </a:p>
        </p:txBody>
      </p:sp>
    </p:spTree>
    <p:extLst>
      <p:ext uri="{BB962C8B-B14F-4D97-AF65-F5344CB8AC3E}">
        <p14:creationId xmlns:p14="http://schemas.microsoft.com/office/powerpoint/2010/main" val="94738391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7677D53-9BF8-22BF-05B8-A7709532E9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dirty="0"/>
              <a:t>While</a:t>
            </a:r>
          </a:p>
        </p:txBody>
      </p:sp>
    </p:spTree>
    <p:extLst>
      <p:ext uri="{BB962C8B-B14F-4D97-AF65-F5344CB8AC3E}">
        <p14:creationId xmlns:p14="http://schemas.microsoft.com/office/powerpoint/2010/main" val="1424724573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15C31450-139A-BB3E-A5B0-B944474FE6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400" dirty="0"/>
              <a:t>Repeats code </a:t>
            </a:r>
            <a:r>
              <a:rPr lang="en-US" sz="1400" i="1" dirty="0"/>
              <a:t>as long as a condition is True.</a:t>
            </a:r>
            <a:endParaRPr lang="en-US" sz="14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AD4EF3B-95DB-243E-753E-9B5388249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</a:t>
            </a:r>
          </a:p>
        </p:txBody>
      </p:sp>
      <p:pic>
        <p:nvPicPr>
          <p:cNvPr id="10" name="Picture 9" descr="A computer screen shot of a code&#10;&#10;AI-generated content may be incorrect.">
            <a:extLst>
              <a:ext uri="{FF2B5EF4-FFF2-40B4-BE49-F238E27FC236}">
                <a16:creationId xmlns:a16="http://schemas.microsoft.com/office/drawing/2014/main" id="{6813C778-2167-8D0B-764C-1A30B88CBD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326" r="11941" b="8852"/>
          <a:stretch/>
        </p:blipFill>
        <p:spPr>
          <a:xfrm>
            <a:off x="853432" y="3179206"/>
            <a:ext cx="3300730" cy="1029458"/>
          </a:xfrm>
          <a:prstGeom prst="rect">
            <a:avLst/>
          </a:prstGeom>
        </p:spPr>
      </p:pic>
      <p:pic>
        <p:nvPicPr>
          <p:cNvPr id="12" name="Picture 11" descr="A diagram of a test expression&#10;&#10;AI-generated content may be incorrect.">
            <a:extLst>
              <a:ext uri="{FF2B5EF4-FFF2-40B4-BE49-F238E27FC236}">
                <a16:creationId xmlns:a16="http://schemas.microsoft.com/office/drawing/2014/main" id="{961B8F52-2587-C86F-F37B-C1E99D3309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32" y="1008344"/>
            <a:ext cx="3300730" cy="2028352"/>
          </a:xfrm>
          <a:prstGeom prst="rect">
            <a:avLst/>
          </a:prstGeom>
        </p:spPr>
      </p:pic>
      <p:pic>
        <p:nvPicPr>
          <p:cNvPr id="14" name="Picture 13" descr="A video game graphics&#10;&#10;AI-generated content may be incorrect.">
            <a:extLst>
              <a:ext uri="{FF2B5EF4-FFF2-40B4-BE49-F238E27FC236}">
                <a16:creationId xmlns:a16="http://schemas.microsoft.com/office/drawing/2014/main" id="{BF1AA885-2227-9296-69EF-72845D6297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1535" y="1744448"/>
            <a:ext cx="4672351" cy="2628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337151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708B48F-2F3A-FEC9-89A0-0772B89C20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/>
              <a:t>Break</a:t>
            </a:r>
          </a:p>
        </p:txBody>
      </p:sp>
    </p:spTree>
    <p:extLst>
      <p:ext uri="{BB962C8B-B14F-4D97-AF65-F5344CB8AC3E}">
        <p14:creationId xmlns:p14="http://schemas.microsoft.com/office/powerpoint/2010/main" val="1211556984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B7AD3DFD-1CED-6E63-B206-6A2F9385A9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Breaking out of a loop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02FB4A-6238-B4F2-89F9-09A47C317B1A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04612" y="1210428"/>
            <a:ext cx="7848391" cy="589736"/>
          </a:xfrm>
        </p:spPr>
        <p:txBody>
          <a:bodyPr/>
          <a:lstStyle/>
          <a:p>
            <a:r>
              <a:rPr lang="en-US" sz="1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break immediately stops the loop, no matter what the condition is.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33BFAA6-BA10-5B9D-0308-099E8B22F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/>
              <a:t>Break</a:t>
            </a:r>
            <a:endParaRPr lang="en-US" dirty="0"/>
          </a:p>
        </p:txBody>
      </p:sp>
      <p:pic>
        <p:nvPicPr>
          <p:cNvPr id="6" name="Picture 5" descr="A cartoon of a person driving a car&#10;&#10;AI-generated content may be incorrect.">
            <a:extLst>
              <a:ext uri="{FF2B5EF4-FFF2-40B4-BE49-F238E27FC236}">
                <a16:creationId xmlns:a16="http://schemas.microsoft.com/office/drawing/2014/main" id="{1547F9AC-3837-17CC-4DB9-B674264701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850" y="2000000"/>
            <a:ext cx="4239547" cy="2384745"/>
          </a:xfrm>
          <a:prstGeom prst="rect">
            <a:avLst/>
          </a:prstGeom>
        </p:spPr>
      </p:pic>
      <p:pic>
        <p:nvPicPr>
          <p:cNvPr id="8" name="Picture 7" descr="A diagram of a flowchart&#10;&#10;AI-generated content may be incorrect.">
            <a:extLst>
              <a:ext uri="{FF2B5EF4-FFF2-40B4-BE49-F238E27FC236}">
                <a16:creationId xmlns:a16="http://schemas.microsoft.com/office/drawing/2014/main" id="{4D3371C9-EDDE-B74E-CD3A-B73160BCB6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5130" y="2000000"/>
            <a:ext cx="2787085" cy="2384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216861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CCE88CA5-A8D6-E24C-C6E7-2A6AB982C6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For_example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0C55F6-3E8E-2701-43F6-A2E077820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/>
              <a:t>Break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BF8335-8CC2-E335-70A8-73AF4A2F83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296" y="1572834"/>
            <a:ext cx="4365015" cy="2375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938379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E65252CE-6BF1-BA32-7CED-209331202C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While_example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3778C35-0DAA-24F1-B4D4-A3BA14B82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/>
              <a:t>Break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67DAE1-75D5-659A-B301-362D483A77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916" y="1736811"/>
            <a:ext cx="6059459" cy="1945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612176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0C34D73-EBDA-BDF0-C165-B3B779516A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dirty="0"/>
              <a:t>Continue</a:t>
            </a:r>
          </a:p>
        </p:txBody>
      </p:sp>
    </p:spTree>
    <p:extLst>
      <p:ext uri="{BB962C8B-B14F-4D97-AF65-F5344CB8AC3E}">
        <p14:creationId xmlns:p14="http://schemas.microsoft.com/office/powerpoint/2010/main" val="1649499707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FBDA09F2-19D8-C8A3-11FF-33C0213941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Skipping an iteration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EDF9664-6DF6-A8B6-2B38-B3B4FA4B72CE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955674" y="847805"/>
            <a:ext cx="7985378" cy="1030090"/>
          </a:xfrm>
        </p:spPr>
        <p:txBody>
          <a:bodyPr/>
          <a:lstStyle/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continue jumps to the next loop cycle</a:t>
            </a:r>
          </a:p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(skips the rest of the code in this iteration).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4303AF0-1CB4-B554-51C7-A9598D14D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/>
              <a:t>Continue</a:t>
            </a:r>
            <a:endParaRPr lang="en-US" dirty="0"/>
          </a:p>
        </p:txBody>
      </p:sp>
      <p:pic>
        <p:nvPicPr>
          <p:cNvPr id="8" name="Picture 7" descr="A cartoon of a child jumping rope&#10;&#10;AI-generated content may be incorrect.">
            <a:extLst>
              <a:ext uri="{FF2B5EF4-FFF2-40B4-BE49-F238E27FC236}">
                <a16:creationId xmlns:a16="http://schemas.microsoft.com/office/drawing/2014/main" id="{9DA7E2EE-1315-C3D1-1A7D-C661636292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178" y="1715107"/>
            <a:ext cx="4771835" cy="2769369"/>
          </a:xfrm>
          <a:prstGeom prst="rect">
            <a:avLst/>
          </a:prstGeom>
        </p:spPr>
      </p:pic>
      <p:pic>
        <p:nvPicPr>
          <p:cNvPr id="10" name="Picture 9" descr="A diagram of a flowchart&#10;&#10;AI-generated content may be incorrect.">
            <a:extLst>
              <a:ext uri="{FF2B5EF4-FFF2-40B4-BE49-F238E27FC236}">
                <a16:creationId xmlns:a16="http://schemas.microsoft.com/office/drawing/2014/main" id="{32E17387-029D-152F-FF27-1386267005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1013" y="1715107"/>
            <a:ext cx="3032669" cy="2769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355994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D13B072-7CBF-2EB6-FDD5-D03906D302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For_example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125A5B8-378C-A054-BD5A-BC794AA0B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/>
              <a:t>Continue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B4045C-5803-7AC1-728B-2BE20182CD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0488" y="1572874"/>
            <a:ext cx="4105053" cy="184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804164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663D2AAB-08C7-3234-FDD2-CF95C602ED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While_example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DBA9640-BA24-049F-2668-7D9758103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/>
              <a:t>Continue</a:t>
            </a:r>
            <a:endParaRPr lang="en-US" dirty="0"/>
          </a:p>
        </p:txBody>
      </p:sp>
      <p:pic>
        <p:nvPicPr>
          <p:cNvPr id="6" name="Picture 5" descr="A computer screen shot of numbers&#10;&#10;AI-generated content may be incorrect.">
            <a:extLst>
              <a:ext uri="{FF2B5EF4-FFF2-40B4-BE49-F238E27FC236}">
                <a16:creationId xmlns:a16="http://schemas.microsoft.com/office/drawing/2014/main" id="{7AE62A92-32EF-3D57-B822-7A0F4287AB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608" y="1506154"/>
            <a:ext cx="4512133" cy="226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508687"/>
      </p:ext>
    </p:extLst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8F1ECB0-18BD-4FA1-91BE-AE1A1113DE1C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2176462" y="535940"/>
            <a:ext cx="4791075" cy="646113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40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Thank You</a:t>
            </a:r>
          </a:p>
        </p:txBody>
      </p:sp>
      <p:pic>
        <p:nvPicPr>
          <p:cNvPr id="6" name="Graphic 5" descr="Email with solid fill">
            <a:extLst>
              <a:ext uri="{FF2B5EF4-FFF2-40B4-BE49-F238E27FC236}">
                <a16:creationId xmlns:a16="http://schemas.microsoft.com/office/drawing/2014/main" id="{21BD309E-BA27-4490-BF9C-0C19B0C481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30544" y="2742864"/>
            <a:ext cx="358517" cy="3585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606EEFA-3207-48A7-88E8-EA57343BA5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3999" y="1467773"/>
            <a:ext cx="923363" cy="11039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AAEEC1B-9C1E-4DCD-A4D6-2BDFE07E8B9B}"/>
              </a:ext>
            </a:extLst>
          </p:cNvPr>
          <p:cNvSpPr txBox="1"/>
          <p:nvPr/>
        </p:nvSpPr>
        <p:spPr>
          <a:xfrm>
            <a:off x="2709803" y="1604262"/>
            <a:ext cx="26241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  <a:latin typeface="Montserrat ExtraBold" panose="00000900000000000000" pitchFamily="2" charset="0"/>
              </a:rPr>
              <a:t>About me:</a:t>
            </a:r>
          </a:p>
          <a:p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  <a:latin typeface="Montserrat ExtraBold" panose="00000900000000000000" pitchFamily="2" charset="0"/>
              </a:rPr>
              <a:t>Sayed Mostafa </a:t>
            </a:r>
            <a:r>
              <a:rPr lang="en-US" sz="12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Montserrat ExtraBold" panose="00000900000000000000" pitchFamily="2" charset="0"/>
              </a:rPr>
              <a:t>Modaghegh</a:t>
            </a:r>
            <a:endParaRPr lang="en-US" sz="1200" dirty="0">
              <a:solidFill>
                <a:schemeClr val="accent5">
                  <a:lumMod val="40000"/>
                  <a:lumOff val="60000"/>
                </a:schemeClr>
              </a:solidFill>
              <a:latin typeface="Montserrat ExtraBold" panose="00000900000000000000" pitchFamily="2" charset="0"/>
            </a:endParaRPr>
          </a:p>
          <a:p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  <a:latin typeface="Montserrat ExtraBold" panose="00000900000000000000" pitchFamily="2" charset="0"/>
              </a:rPr>
              <a:t>AI and Robotics student</a:t>
            </a:r>
          </a:p>
          <a:p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  <a:latin typeface="Montserrat ExtraBold" panose="00000900000000000000" pitchFamily="2" charset="0"/>
              </a:rPr>
              <a:t>Computer vision developer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9AF9A0-62AD-4B9F-B813-9D8E0C3C1A63}"/>
              </a:ext>
            </a:extLst>
          </p:cNvPr>
          <p:cNvSpPr txBox="1"/>
          <p:nvPr/>
        </p:nvSpPr>
        <p:spPr>
          <a:xfrm>
            <a:off x="2889061" y="2814700"/>
            <a:ext cx="358648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  <a:latin typeface="Montserrat ExtraBold" panose="00000900000000000000" pitchFamily="2" charset="0"/>
              </a:rPr>
              <a:t>Sm.mostafa79modaqeq@gmail.com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C05FC8-A469-4BBE-9682-7B46D9FABA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874" y="3258944"/>
            <a:ext cx="300083" cy="30008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1649A78-2575-431A-BE3D-C202F6A2EFB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705230" y="3258944"/>
            <a:ext cx="300082" cy="30008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058B7FC-0C15-45FB-B572-124390E4AA47}"/>
              </a:ext>
            </a:extLst>
          </p:cNvPr>
          <p:cNvSpPr txBox="1"/>
          <p:nvPr/>
        </p:nvSpPr>
        <p:spPr>
          <a:xfrm>
            <a:off x="3174140" y="3258944"/>
            <a:ext cx="301632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  <a:latin typeface="Montserrat ExtraBold" panose="00000900000000000000" pitchFamily="2" charset="0"/>
              </a:rPr>
              <a:t>@mostafa_modaghegh</a:t>
            </a:r>
          </a:p>
        </p:txBody>
      </p:sp>
    </p:spTree>
    <p:extLst>
      <p:ext uri="{BB962C8B-B14F-4D97-AF65-F5344CB8AC3E}">
        <p14:creationId xmlns:p14="http://schemas.microsoft.com/office/powerpoint/2010/main" val="89630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0" grpId="0"/>
      <p:bldP spid="17" grpId="0"/>
    </p:bldLst>
  </p:timing>
</p:sld>
</file>

<file path=ppt/theme/theme1.xml><?xml version="1.0" encoding="utf-8"?>
<a:theme xmlns:a="http://schemas.openxmlformats.org/drawingml/2006/main" name="Futuristic Background by Slidesgo">
  <a:themeElements>
    <a:clrScheme name="Simple Light">
      <a:dk1>
        <a:srgbClr val="001633"/>
      </a:dk1>
      <a:lt1>
        <a:srgbClr val="FFFFFF"/>
      </a:lt1>
      <a:dk2>
        <a:srgbClr val="85D5E6"/>
      </a:dk2>
      <a:lt2>
        <a:srgbClr val="FFAB40"/>
      </a:lt2>
      <a:accent1>
        <a:srgbClr val="FFAB40"/>
      </a:accent1>
      <a:accent2>
        <a:srgbClr val="85D5E6"/>
      </a:accent2>
      <a:accent3>
        <a:srgbClr val="78909C"/>
      </a:accent3>
      <a:accent4>
        <a:srgbClr val="FFAB40"/>
      </a:accent4>
      <a:accent5>
        <a:srgbClr val="0097A7"/>
      </a:accent5>
      <a:accent6>
        <a:srgbClr val="001633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6387</TotalTime>
  <Words>187</Words>
  <Application>Microsoft Office PowerPoint</Application>
  <PresentationFormat>On-screen Show (16:9)</PresentationFormat>
  <Paragraphs>42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Arial</vt:lpstr>
      <vt:lpstr>Posterama</vt:lpstr>
      <vt:lpstr>Khmer UI</vt:lpstr>
      <vt:lpstr>Aptos</vt:lpstr>
      <vt:lpstr>Aharoni</vt:lpstr>
      <vt:lpstr>Wingdings</vt:lpstr>
      <vt:lpstr>Montserrat ExtraBold</vt:lpstr>
      <vt:lpstr>Montserrat</vt:lpstr>
      <vt:lpstr>Montserrat ExtraLight</vt:lpstr>
      <vt:lpstr>Futuristic Background by Slidesgo</vt:lpstr>
      <vt:lpstr>Programming(4)</vt:lpstr>
      <vt:lpstr>Programming_4</vt:lpstr>
      <vt:lpstr>Accumulators</vt:lpstr>
      <vt:lpstr>Accumulators</vt:lpstr>
      <vt:lpstr>While</vt:lpstr>
      <vt:lpstr>While</vt:lpstr>
      <vt:lpstr>Break</vt:lpstr>
      <vt:lpstr>Break</vt:lpstr>
      <vt:lpstr>Break</vt:lpstr>
      <vt:lpstr>Break</vt:lpstr>
      <vt:lpstr>Continue</vt:lpstr>
      <vt:lpstr>Continue</vt:lpstr>
      <vt:lpstr>Continue</vt:lpstr>
      <vt:lpstr>Continue</vt:lpstr>
      <vt:lpstr>Thank You</vt:lpstr>
    </vt:vector>
  </TitlesOfParts>
  <Manager>Mortaza Nabavi</Manager>
  <Company>Gharjistan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Logic Circuits</dc:title>
  <dc:subject>Logic Circuits</dc:subject>
  <dc:creator>Mortaza Nabavi</dc:creator>
  <cp:keywords>Logic Circuits</cp:keywords>
  <cp:lastModifiedBy>Mostafi</cp:lastModifiedBy>
  <cp:revision>252</cp:revision>
  <dcterms:created xsi:type="dcterms:W3CDTF">2024-12-02T14:00:11Z</dcterms:created>
  <dcterms:modified xsi:type="dcterms:W3CDTF">2025-10-26T08:53:34Z</dcterms:modified>
  <cp:category>Logic Circuits</cp:category>
</cp:coreProperties>
</file>