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72" r:id="rId1"/>
  </p:sldMasterIdLst>
  <p:notesMasterIdLst>
    <p:notesMasterId r:id="rId19"/>
  </p:notesMasterIdLst>
  <p:sldIdLst>
    <p:sldId id="413" r:id="rId2"/>
    <p:sldId id="451" r:id="rId3"/>
    <p:sldId id="452" r:id="rId4"/>
    <p:sldId id="453" r:id="rId5"/>
    <p:sldId id="454" r:id="rId6"/>
    <p:sldId id="455" r:id="rId7"/>
    <p:sldId id="456" r:id="rId8"/>
    <p:sldId id="457" r:id="rId9"/>
    <p:sldId id="459" r:id="rId10"/>
    <p:sldId id="461" r:id="rId11"/>
    <p:sldId id="462" r:id="rId12"/>
    <p:sldId id="463" r:id="rId13"/>
    <p:sldId id="464" r:id="rId14"/>
    <p:sldId id="465" r:id="rId15"/>
    <p:sldId id="467" r:id="rId16"/>
    <p:sldId id="466" r:id="rId17"/>
    <p:sldId id="450" r:id="rId18"/>
  </p:sldIdLst>
  <p:sldSz cx="9144000" cy="5143500" type="screen16x9"/>
  <p:notesSz cx="6858000" cy="9144000"/>
  <p:embeddedFontLst>
    <p:embeddedFont>
      <p:font typeface="Aharoni" panose="02010803020104030203" pitchFamily="2" charset="-79"/>
      <p:bold r:id="rId20"/>
    </p:embeddedFont>
    <p:embeddedFont>
      <p:font typeface="Arial Unicode MS" panose="020B0604020202020204" pitchFamily="34" charset="-128"/>
      <p:regular r:id="rId21"/>
      <p:bold r:id="rId22"/>
    </p:embeddedFont>
    <p:embeddedFont>
      <p:font typeface="Khmer UI" panose="020B0502040204020203" pitchFamily="34" charset="0"/>
      <p:regular r:id="rId23"/>
      <p:bold r:id="rId24"/>
    </p:embeddedFont>
    <p:embeddedFont>
      <p:font typeface="Montserrat" panose="00000500000000000000" pitchFamily="2" charset="0"/>
      <p:regular r:id="rId25"/>
      <p:bold r:id="rId26"/>
      <p:italic r:id="rId27"/>
      <p:boldItalic r:id="rId28"/>
    </p:embeddedFont>
    <p:embeddedFont>
      <p:font typeface="Montserrat ExtraBold" panose="00000900000000000000" pitchFamily="2" charset="0"/>
      <p:bold r:id="rId29"/>
      <p:boldItalic r:id="rId30"/>
    </p:embeddedFont>
    <p:embeddedFont>
      <p:font typeface="Montserrat ExtraLight" panose="00000300000000000000" pitchFamily="2" charset="0"/>
      <p:regular r:id="rId31"/>
      <p:italic r:id="rId32"/>
    </p:embeddedFont>
    <p:embeddedFont>
      <p:font typeface="Posterama" panose="020B0504020200020000" pitchFamily="34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D8B"/>
    <a:srgbClr val="72A700"/>
    <a:srgbClr val="F9F488"/>
    <a:srgbClr val="FFE6C5"/>
    <a:srgbClr val="FFAE43"/>
    <a:srgbClr val="85D5E6"/>
    <a:srgbClr val="FFD074"/>
    <a:srgbClr val="001631"/>
    <a:srgbClr val="E97132"/>
    <a:srgbClr val="747A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09" autoAdjust="0"/>
    <p:restoredTop sz="96323" autoAdjust="0"/>
  </p:normalViewPr>
  <p:slideViewPr>
    <p:cSldViewPr snapToGrid="0">
      <p:cViewPr varScale="1">
        <p:scale>
          <a:sx n="126" d="100"/>
          <a:sy n="126" d="100"/>
        </p:scale>
        <p:origin x="42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theme" Target="theme/theme1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2333E3-72D9-4F8D-8968-0C5D8F107340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9271D7-2488-401D-96D1-EFC76CE6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40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457B78B-8EB0-26C4-34D1-4BA9B7FA54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1654825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sz="4050" dirty="0"/>
              <a:t>Title</a:t>
            </a:r>
          </a:p>
        </p:txBody>
      </p:sp>
      <p:sp>
        <p:nvSpPr>
          <p:cNvPr id="4" name="Google Shape;20;p5">
            <a:extLst>
              <a:ext uri="{FF2B5EF4-FFF2-40B4-BE49-F238E27FC236}">
                <a16:creationId xmlns:a16="http://schemas.microsoft.com/office/drawing/2014/main" id="{79693BF6-B94C-D376-1789-A93C44ABD66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2407885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cxnSp>
        <p:nvCxnSpPr>
          <p:cNvPr id="5" name="Google Shape;165;p38">
            <a:extLst>
              <a:ext uri="{FF2B5EF4-FFF2-40B4-BE49-F238E27FC236}">
                <a16:creationId xmlns:a16="http://schemas.microsoft.com/office/drawing/2014/main" id="{6958F97A-D385-638A-6C5B-8EC5D1715C4C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346791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760" y="3653609"/>
            <a:ext cx="1019175" cy="1019175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3857625" y="4163197"/>
            <a:ext cx="2634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0" dirty="0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fall semester 2025 _ </a:t>
            </a:r>
            <a:r>
              <a:rPr lang="en-US" sz="1200" baseline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Gharjistan</a:t>
            </a:r>
            <a:r>
              <a:rPr lang="en-US" sz="1200" baseline="0" dirty="0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 </a:t>
            </a:r>
            <a:r>
              <a:rPr lang="en-US" sz="1200" baseline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uni</a:t>
            </a:r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  <a:latin typeface="Khmer UI" pitchFamily="34" charset="0"/>
              <a:cs typeface="Khmer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72272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Title -No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7A11C6-19AA-3E44-58A7-C914B018C1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1654825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sz="4050" dirty="0"/>
              <a:t>Title</a:t>
            </a:r>
          </a:p>
        </p:txBody>
      </p:sp>
      <p:cxnSp>
        <p:nvCxnSpPr>
          <p:cNvPr id="6" name="Google Shape;165;p38">
            <a:extLst>
              <a:ext uri="{FF2B5EF4-FFF2-40B4-BE49-F238E27FC236}">
                <a16:creationId xmlns:a16="http://schemas.microsoft.com/office/drawing/2014/main" id="{1E131CE8-B620-0118-54DC-E0B7B5A813DD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346791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1" name="Google Shape;20;p5">
            <a:extLst>
              <a:ext uri="{FF2B5EF4-FFF2-40B4-BE49-F238E27FC236}">
                <a16:creationId xmlns:a16="http://schemas.microsoft.com/office/drawing/2014/main" id="{EA059631-C19E-991D-6D01-BE23FB703388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2407885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7276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 preserve="1" userDrawn="1">
  <p:cSld name="Section 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CC644-0069-AB3E-B406-3479FF69F9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2249400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sz="4050" dirty="0"/>
              <a:t>Title</a:t>
            </a:r>
          </a:p>
        </p:txBody>
      </p:sp>
      <p:cxnSp>
        <p:nvCxnSpPr>
          <p:cNvPr id="3" name="Google Shape;165;p38">
            <a:extLst>
              <a:ext uri="{FF2B5EF4-FFF2-40B4-BE49-F238E27FC236}">
                <a16:creationId xmlns:a16="http://schemas.microsoft.com/office/drawing/2014/main" id="{502F4F22-45C1-4753-A4B4-178CCF92C488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941366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Google Shape;20;p5">
            <a:extLst>
              <a:ext uri="{FF2B5EF4-FFF2-40B4-BE49-F238E27FC236}">
                <a16:creationId xmlns:a16="http://schemas.microsoft.com/office/drawing/2014/main" id="{2ECA98E3-F378-0703-E813-0F1EBA84AEEB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3002460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4598094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165;p38">
            <a:extLst>
              <a:ext uri="{FF2B5EF4-FFF2-40B4-BE49-F238E27FC236}">
                <a16:creationId xmlns:a16="http://schemas.microsoft.com/office/drawing/2014/main" id="{5FB02F9F-884B-4495-B25D-AB2D27F8BDA9}"/>
              </a:ext>
            </a:extLst>
          </p:cNvPr>
          <p:cNvCxnSpPr>
            <a:cxnSpLocks/>
          </p:cNvCxnSpPr>
          <p:nvPr userDrawn="1"/>
        </p:nvCxnSpPr>
        <p:spPr>
          <a:xfrm>
            <a:off x="2651760" y="1303659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129877323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2140121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2;p9">
            <a:extLst>
              <a:ext uri="{FF2B5EF4-FFF2-40B4-BE49-F238E27FC236}">
                <a16:creationId xmlns:a16="http://schemas.microsoft.com/office/drawing/2014/main" id="{EDCFF91D-84B0-43AC-0860-DF47CEB52A30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404612" y="420857"/>
            <a:ext cx="5735699" cy="589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000" b="0" i="0" u="none" strike="noStrike" kern="0" cap="none" dirty="0">
                <a:solidFill>
                  <a:srgbClr val="FFD07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r>
              <a:rPr lang="en-US" dirty="0"/>
              <a:t>Subtitle goes here …</a:t>
            </a:r>
            <a:endParaRPr dirty="0"/>
          </a:p>
        </p:txBody>
      </p:sp>
      <p:sp>
        <p:nvSpPr>
          <p:cNvPr id="5" name="Google Shape;17;p4">
            <a:extLst>
              <a:ext uri="{FF2B5EF4-FFF2-40B4-BE49-F238E27FC236}">
                <a16:creationId xmlns:a16="http://schemas.microsoft.com/office/drawing/2014/main" id="{345C5E3F-C6BF-5AB1-63B1-1DA3334D07D9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96090" y="1162049"/>
            <a:ext cx="7985378" cy="3005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300" kern="1200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766" lvl="1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Text goes here …</a:t>
            </a:r>
            <a:endParaRPr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8" name="Google Shape;36;p10">
            <a:extLst>
              <a:ext uri="{FF2B5EF4-FFF2-40B4-BE49-F238E27FC236}">
                <a16:creationId xmlns:a16="http://schemas.microsoft.com/office/drawing/2014/main" id="{E5E23F22-CC2F-45A0-82E7-1BCE0E8AF20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04613" y="113019"/>
            <a:ext cx="5194074" cy="402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1600" b="0" i="0" u="none" strike="noStrike" kern="0" cap="none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TITLE GOES HERE …</a:t>
            </a:r>
            <a:endParaRPr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915234F-9F30-4B8E-821A-4CA11ECA768E}"/>
              </a:ext>
            </a:extLst>
          </p:cNvPr>
          <p:cNvSpPr txBox="1">
            <a:spLocks/>
          </p:cNvSpPr>
          <p:nvPr userDrawn="1"/>
        </p:nvSpPr>
        <p:spPr>
          <a:xfrm>
            <a:off x="7837247" y="4769203"/>
            <a:ext cx="863222" cy="2612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685800"/>
            <a:fld id="{F8A59C0B-2424-46FD-9890-DD87FF18FE2B}" type="slidenum">
              <a:rPr lang="en-US" sz="1050" kern="0" smtClean="0">
                <a:solidFill>
                  <a:srgbClr val="FFD074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pPr algn="r" defTabSz="685800"/>
              <a:t>‹#›</a:t>
            </a:fld>
            <a:endParaRPr lang="en-US" sz="1200" kern="0" dirty="0">
              <a:solidFill>
                <a:srgbClr val="FFD074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cxnSp>
        <p:nvCxnSpPr>
          <p:cNvPr id="10" name="Google Shape;281;p50">
            <a:extLst>
              <a:ext uri="{FF2B5EF4-FFF2-40B4-BE49-F238E27FC236}">
                <a16:creationId xmlns:a16="http://schemas.microsoft.com/office/drawing/2014/main" id="{CFD47C1A-B4E5-4665-8189-C28F3A9530A9}"/>
              </a:ext>
            </a:extLst>
          </p:cNvPr>
          <p:cNvCxnSpPr>
            <a:cxnSpLocks/>
          </p:cNvCxnSpPr>
          <p:nvPr userDrawn="1"/>
        </p:nvCxnSpPr>
        <p:spPr>
          <a:xfrm>
            <a:off x="463840" y="484434"/>
            <a:ext cx="2514600" cy="0"/>
          </a:xfrm>
          <a:prstGeom prst="straightConnector1">
            <a:avLst/>
          </a:prstGeom>
          <a:noFill/>
          <a:ln w="12700" cap="flat" cmpd="sng">
            <a:solidFill>
              <a:srgbClr val="85D5E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347887295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6;p10">
            <a:extLst>
              <a:ext uri="{FF2B5EF4-FFF2-40B4-BE49-F238E27FC236}">
                <a16:creationId xmlns:a16="http://schemas.microsoft.com/office/drawing/2014/main" id="{EF0B4B41-AF40-DA43-6E3C-61199E9304A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96091" y="113019"/>
            <a:ext cx="5194074" cy="402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1600" b="0" i="0" u="none" strike="noStrike" kern="0" cap="none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TITLE GOES HERE …</a:t>
            </a:r>
            <a:endParaRPr dirty="0"/>
          </a:p>
        </p:txBody>
      </p:sp>
      <p:cxnSp>
        <p:nvCxnSpPr>
          <p:cNvPr id="7" name="Google Shape;281;p50">
            <a:extLst>
              <a:ext uri="{FF2B5EF4-FFF2-40B4-BE49-F238E27FC236}">
                <a16:creationId xmlns:a16="http://schemas.microsoft.com/office/drawing/2014/main" id="{4F9A1049-8CC2-6A1F-E4A6-E9662D06F4DB}"/>
              </a:ext>
            </a:extLst>
          </p:cNvPr>
          <p:cNvCxnSpPr>
            <a:cxnSpLocks/>
          </p:cNvCxnSpPr>
          <p:nvPr userDrawn="1"/>
        </p:nvCxnSpPr>
        <p:spPr>
          <a:xfrm>
            <a:off x="455318" y="484434"/>
            <a:ext cx="2514600" cy="0"/>
          </a:xfrm>
          <a:prstGeom prst="straightConnector1">
            <a:avLst/>
          </a:prstGeom>
          <a:noFill/>
          <a:ln w="12700" cap="flat" cmpd="sng">
            <a:solidFill>
              <a:srgbClr val="85D5E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8" name="Google Shape;32;p9">
            <a:extLst>
              <a:ext uri="{FF2B5EF4-FFF2-40B4-BE49-F238E27FC236}">
                <a16:creationId xmlns:a16="http://schemas.microsoft.com/office/drawing/2014/main" id="{331F55AD-2380-B771-54AC-716CF7C67EE7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96090" y="420857"/>
            <a:ext cx="5735699" cy="589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000" b="0" i="0" u="none" strike="noStrike" kern="0" cap="none" dirty="0">
                <a:solidFill>
                  <a:srgbClr val="FFD07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r>
              <a:rPr lang="en-US" dirty="0"/>
              <a:t>Subtitle goes here …</a:t>
            </a:r>
            <a:endParaRPr dirty="0"/>
          </a:p>
        </p:txBody>
      </p:sp>
      <p:sp>
        <p:nvSpPr>
          <p:cNvPr id="9" name="Google Shape;17;p4">
            <a:extLst>
              <a:ext uri="{FF2B5EF4-FFF2-40B4-BE49-F238E27FC236}">
                <a16:creationId xmlns:a16="http://schemas.microsoft.com/office/drawing/2014/main" id="{345C5E3F-C6BF-5AB1-63B1-1DA3334D07D9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96090" y="1162049"/>
            <a:ext cx="7985378" cy="3005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300" kern="1200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766" lvl="1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Text goes here …</a:t>
            </a:r>
            <a:endParaRPr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4312C8B-B25F-5EFE-01F3-544DA90E76DA}"/>
              </a:ext>
            </a:extLst>
          </p:cNvPr>
          <p:cNvSpPr txBox="1">
            <a:spLocks/>
          </p:cNvSpPr>
          <p:nvPr userDrawn="1"/>
        </p:nvSpPr>
        <p:spPr>
          <a:xfrm>
            <a:off x="7837247" y="4769203"/>
            <a:ext cx="863222" cy="2612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685800"/>
            <a:fld id="{F8A59C0B-2424-46FD-9890-DD87FF18FE2B}" type="slidenum">
              <a:rPr lang="en-US" sz="1050" kern="0" smtClean="0">
                <a:solidFill>
                  <a:srgbClr val="FFD074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pPr algn="r" defTabSz="685800"/>
              <a:t>‹#›</a:t>
            </a:fld>
            <a:endParaRPr lang="en-US" sz="1200" kern="0" dirty="0">
              <a:solidFill>
                <a:srgbClr val="FFD074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66192322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3356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2" r:id="rId1"/>
    <p:sldLayoutId id="2147483733" r:id="rId2"/>
    <p:sldLayoutId id="2147483736" r:id="rId3"/>
    <p:sldLayoutId id="2147483743" r:id="rId4"/>
    <p:sldLayoutId id="2147483738" r:id="rId5"/>
    <p:sldLayoutId id="2147483739" r:id="rId6"/>
    <p:sldLayoutId id="2147483741" r:id="rId7"/>
  </p:sldLayoutIdLst>
  <p:transition spd="slow"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jpg"/><Relationship Id="rId5" Type="http://schemas.openxmlformats.org/officeDocument/2006/relationships/image" Target="../media/image16.jfif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jpeg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A50E719-6280-2F6A-1CB5-EE96BDA04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Programming(0)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5D47F06-3B94-947A-F241-7EBB8EF82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b="1" dirty="0"/>
              <a:t>Sayed Mostafa </a:t>
            </a:r>
            <a:r>
              <a:rPr lang="en-US" sz="1400" b="1" dirty="0" err="1"/>
              <a:t>Modaghegh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12870854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27DCF-D09D-F11C-E7C8-4C1F6A2C7D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/>
              <a:t>Introduction to Python </a:t>
            </a:r>
          </a:p>
        </p:txBody>
      </p:sp>
    </p:spTree>
    <p:extLst>
      <p:ext uri="{BB962C8B-B14F-4D97-AF65-F5344CB8AC3E}">
        <p14:creationId xmlns:p14="http://schemas.microsoft.com/office/powerpoint/2010/main" val="1119995266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4F0B0A12-4230-6A01-F375-B905EFDE0F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88AA94-3DA2-F55E-E8E4-A7ABF109E32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4612" y="1010592"/>
            <a:ext cx="7936456" cy="3192015"/>
          </a:xfrm>
        </p:spPr>
        <p:txBody>
          <a:bodyPr/>
          <a:lstStyle/>
          <a:p>
            <a:pPr marL="447671" indent="-342900">
              <a:buFont typeface="+mj-lt"/>
              <a:buAutoNum type="arabicParenR"/>
            </a:pPr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Understand what Python is and why it’s used</a:t>
            </a:r>
          </a:p>
          <a:p>
            <a:pPr marL="447671" indent="-342900">
              <a:buFont typeface="+mj-lt"/>
              <a:buAutoNum type="arabicParenR"/>
            </a:pPr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Learn to write and run a Python program</a:t>
            </a:r>
          </a:p>
          <a:p>
            <a:pPr marL="447671" indent="-342900">
              <a:buFont typeface="+mj-lt"/>
              <a:buAutoNum type="arabicParenR"/>
            </a:pPr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Use print() to display information</a:t>
            </a:r>
          </a:p>
          <a:p>
            <a:pPr marL="447671" indent="-342900">
              <a:buFont typeface="+mj-lt"/>
              <a:buAutoNum type="arabicParenR"/>
            </a:pPr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Store data in variables</a:t>
            </a:r>
          </a:p>
          <a:p>
            <a:pPr marL="447671" indent="-342900">
              <a:buFont typeface="+mj-lt"/>
              <a:buAutoNum type="arabicParenR"/>
            </a:pPr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Perform arithmetic operations</a:t>
            </a:r>
          </a:p>
          <a:p>
            <a:pPr marL="447671" indent="-342900">
              <a:buFont typeface="+mj-lt"/>
              <a:buAutoNum type="arabicParenR"/>
            </a:pPr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Get user input with input()</a:t>
            </a:r>
          </a:p>
          <a:p>
            <a:pPr marL="447671" indent="-342900">
              <a:buFont typeface="+mj-lt"/>
              <a:buAutoNum type="arabicParenR"/>
            </a:pPr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Convert data types (casting)</a:t>
            </a:r>
            <a:endParaRPr lang="prs-AF" sz="1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DA9957-3FC5-ED83-60E6-4B0993147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</p:spTree>
    <p:extLst>
      <p:ext uri="{BB962C8B-B14F-4D97-AF65-F5344CB8AC3E}">
        <p14:creationId xmlns:p14="http://schemas.microsoft.com/office/powerpoint/2010/main" val="2541311584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3218CCF-9EAB-148F-7768-1B1AA9D401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is Python?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BCFA2-C15A-0694-DF76-4F2FD9BD4A77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4612" y="895601"/>
            <a:ext cx="7985378" cy="2870999"/>
          </a:xfrm>
        </p:spPr>
        <p:txBody>
          <a:bodyPr/>
          <a:lstStyle/>
          <a:p>
            <a:r>
              <a:rPr 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Python is a high-level, easy-to-learn programming language.</a:t>
            </a:r>
          </a:p>
          <a:p>
            <a:r>
              <a:rPr 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Created by Guido van Rossum in 1991.</a:t>
            </a:r>
          </a:p>
          <a:p>
            <a:endParaRPr lang="prs-AF" sz="1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Used in:</a:t>
            </a:r>
          </a:p>
          <a:p>
            <a:r>
              <a:rPr 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Web development 🌐</a:t>
            </a:r>
          </a:p>
          <a:p>
            <a:r>
              <a:rPr 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Science 📊</a:t>
            </a:r>
          </a:p>
          <a:p>
            <a:r>
              <a:rPr 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Artificial Intelligence 🤖</a:t>
            </a:r>
          </a:p>
          <a:p>
            <a:r>
              <a:rPr 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Automation ⚙️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23727B-49AD-F8B9-D2EA-6466C2548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281018-3249-8D73-2588-9610AF19B3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102" y="1944136"/>
            <a:ext cx="3913906" cy="22029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23912688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8C24286-017A-073F-701E-2E5A145F5B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Why Python?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9EEFF-D3B8-EA2D-A70F-EB8ACF21C64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390521" indent="-285750">
              <a:buFont typeface="Arial" panose="020B0604020202020204" pitchFamily="34" charset="0"/>
              <a:buChar char="•"/>
            </a:pPr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Simple syntax (like English)</a:t>
            </a:r>
          </a:p>
          <a:p>
            <a:pPr marL="390521" indent="-285750">
              <a:buFont typeface="Arial" panose="020B0604020202020204" pitchFamily="34" charset="0"/>
              <a:buChar char="•"/>
            </a:pPr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Huge community and support</a:t>
            </a:r>
          </a:p>
          <a:p>
            <a:pPr marL="390521" indent="-285750">
              <a:buFont typeface="Arial" panose="020B0604020202020204" pitchFamily="34" charset="0"/>
              <a:buChar char="•"/>
            </a:pPr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Works on all platforms (Windows, Linux, Mac)</a:t>
            </a:r>
          </a:p>
          <a:p>
            <a:pPr marL="390521" indent="-285750">
              <a:buFont typeface="Arial" panose="020B0604020202020204" pitchFamily="34" charset="0"/>
              <a:buChar char="•"/>
            </a:pPr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Great for beginners and professionals</a:t>
            </a:r>
          </a:p>
          <a:p>
            <a:pPr marL="390521" indent="-285750">
              <a:buFont typeface="Arial" panose="020B0604020202020204" pitchFamily="34" charset="0"/>
              <a:buChar char="•"/>
            </a:pPr>
            <a:endParaRPr lang="en-US" sz="1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5914B0-AA51-08DE-F989-3BF0A4703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BF5B39-7531-BBE9-23A7-AEEAFDB45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311" y="1600317"/>
            <a:ext cx="2465775" cy="307631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556A05-95AD-13CC-1D16-B224116A7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315" y="2600114"/>
            <a:ext cx="2143125" cy="21431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17350450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69D18E6-A03E-6E73-0EEA-F5270B3164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Installing Python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62671-9535-7BC3-A6EF-CBF6F5024BF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1. Go to python.org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2. Download the latest version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3. Check the box ✅ Add Python to PATH</a:t>
            </a:r>
          </a:p>
          <a:p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C45937-43D1-1D9B-3E54-09BAAD09F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9E1157-0DCA-72B1-4785-050CA1C56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848" y="2068456"/>
            <a:ext cx="4815677" cy="306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492731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2C7A1D2-5688-0FEF-734C-C6081300B3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to Write Python Code?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4F92F-CE9D-8D98-262E-C4E2480729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47645" y="515095"/>
            <a:ext cx="7373282" cy="2379862"/>
          </a:xfrm>
        </p:spPr>
        <p:txBody>
          <a:bodyPr/>
          <a:lstStyle/>
          <a:p>
            <a:endParaRPr lang="en-US" sz="1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IDLE (Python’s default editor)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VS Code (recommended IDE)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PyCharm (advanced IDE)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Command Line / PowerShell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Pydroid</a:t>
            </a:r>
            <a:r>
              <a:rPr lang="en-US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3 (for Android users 📱)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855E6C-A452-724F-BC4D-149B34B08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EC1F2D-19E5-D117-A798-46471263C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469" y="1236896"/>
            <a:ext cx="2079842" cy="1557874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8" name="Picture 7" descr="A logo for a visual studio">
            <a:extLst>
              <a:ext uri="{FF2B5EF4-FFF2-40B4-BE49-F238E27FC236}">
                <a16:creationId xmlns:a16="http://schemas.microsoft.com/office/drawing/2014/main" id="{EA2011C6-DE25-664B-5CB5-A55617D19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68" y="3021074"/>
            <a:ext cx="1676333" cy="9429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412885-DE60-9CDE-EF9A-DDC90D9BF9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592" y="3021074"/>
            <a:ext cx="1768331" cy="9949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F77DB63E-6A60-EEB5-092D-E083B94EEF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4314" y="1236896"/>
            <a:ext cx="1922866" cy="29911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 descr="A comparison of a logo&#10;&#10;AI-generated content may be incorrect.">
            <a:extLst>
              <a:ext uri="{FF2B5EF4-FFF2-40B4-BE49-F238E27FC236}">
                <a16:creationId xmlns:a16="http://schemas.microsoft.com/office/drawing/2014/main" id="{BC7BC297-534A-ED96-6C26-D141592B91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704" y="3021074"/>
            <a:ext cx="2341174" cy="11093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44699174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B5F374C-E17F-0EA6-255E-A088BBEC0F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First Program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964B5-CDDF-46B3-6DF7-D998E55DA8C8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390521" indent="-285750">
              <a:buFont typeface="Wingdings" panose="05000000000000000000" pitchFamily="2" charset="2"/>
              <a:buChar char="v"/>
            </a:pPr>
            <a:r>
              <a:rPr lang="en-US" sz="1400" b="1" dirty="0">
                <a:ln/>
                <a:solidFill>
                  <a:schemeClr val="accent3"/>
                </a:solidFill>
              </a:rPr>
              <a:t>Create a python file.</a:t>
            </a:r>
          </a:p>
          <a:p>
            <a:pPr marL="390521" indent="-285750">
              <a:buFont typeface="Wingdings" panose="05000000000000000000" pitchFamily="2" charset="2"/>
              <a:buChar char="v"/>
            </a:pPr>
            <a:r>
              <a:rPr lang="en-US" sz="1400" b="1" dirty="0">
                <a:ln/>
                <a:solidFill>
                  <a:schemeClr val="accent3"/>
                </a:solidFill>
              </a:rPr>
              <a:t>‘hello.py’ is a python file.</a:t>
            </a:r>
          </a:p>
          <a:p>
            <a:pPr marL="390521" indent="-285750">
              <a:buFont typeface="Wingdings" panose="05000000000000000000" pitchFamily="2" charset="2"/>
              <a:buChar char="v"/>
            </a:pPr>
            <a:r>
              <a:rPr lang="en-US" sz="1400" b="1" dirty="0">
                <a:ln/>
                <a:solidFill>
                  <a:schemeClr val="accent3"/>
                </a:solidFill>
              </a:rPr>
              <a:t>First code: print()</a:t>
            </a:r>
          </a:p>
          <a:p>
            <a:pPr marL="390521" indent="-285750">
              <a:buFont typeface="Wingdings" panose="05000000000000000000" pitchFamily="2" charset="2"/>
              <a:buChar char="v"/>
            </a:pPr>
            <a:r>
              <a:rPr lang="en-US" sz="1400" b="1" dirty="0">
                <a:ln/>
                <a:solidFill>
                  <a:schemeClr val="accent3"/>
                </a:solidFill>
              </a:rPr>
              <a:t>print(“Hello World!”)</a:t>
            </a:r>
          </a:p>
          <a:p>
            <a:pPr marL="390521" indent="-285750">
              <a:buFont typeface="Wingdings" panose="05000000000000000000" pitchFamily="2" charset="2"/>
              <a:buChar char="v"/>
            </a:pPr>
            <a:r>
              <a:rPr lang="en-US" sz="1400" b="1" dirty="0">
                <a:ln/>
                <a:solidFill>
                  <a:schemeClr val="accent3"/>
                </a:solidFill>
              </a:rPr>
              <a:t>In </a:t>
            </a:r>
            <a:r>
              <a:rPr lang="en-US" sz="1400" b="1" dirty="0" err="1">
                <a:ln/>
                <a:solidFill>
                  <a:schemeClr val="accent3"/>
                </a:solidFill>
              </a:rPr>
              <a:t>cmd</a:t>
            </a:r>
            <a:r>
              <a:rPr lang="en-US" sz="1400" b="1" dirty="0">
                <a:ln/>
                <a:solidFill>
                  <a:schemeClr val="accent3"/>
                </a:solidFill>
              </a:rPr>
              <a:t> : python hello.py</a:t>
            </a:r>
          </a:p>
          <a:p>
            <a:endParaRPr lang="en-US" sz="1400" b="1" dirty="0">
              <a:ln/>
              <a:solidFill>
                <a:schemeClr val="accent3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C364F4-F010-25CE-5C36-42D474781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E52222-B7C8-1391-86B5-E4CC5006B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010" y="1519495"/>
            <a:ext cx="5098038" cy="32442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7381625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A35C4-C5CB-EFAB-9394-97E95700D7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Variables</a:t>
            </a:r>
          </a:p>
        </p:txBody>
      </p:sp>
    </p:spTree>
    <p:extLst>
      <p:ext uri="{BB962C8B-B14F-4D97-AF65-F5344CB8AC3E}">
        <p14:creationId xmlns:p14="http://schemas.microsoft.com/office/powerpoint/2010/main" val="2519548215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BFBB-EB21-5CA6-06DB-5980E87C7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Variables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AC74A-A30B-474B-ABD4-7EDB286F5A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is a Variable?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E3248-9E90-3B07-E8FC-85635D03412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96090" y="1162049"/>
            <a:ext cx="4593748" cy="589735"/>
          </a:xfrm>
        </p:spPr>
        <p:txBody>
          <a:bodyPr/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Variable = A container that stores data</a:t>
            </a:r>
          </a:p>
        </p:txBody>
      </p:sp>
      <p:pic>
        <p:nvPicPr>
          <p:cNvPr id="6" name="Picture 5" descr="A white rectangular box with black arrow and red text&#10;&#10;AI-generated content may be incorrect.">
            <a:extLst>
              <a:ext uri="{FF2B5EF4-FFF2-40B4-BE49-F238E27FC236}">
                <a16:creationId xmlns:a16="http://schemas.microsoft.com/office/drawing/2014/main" id="{1CE13757-E737-881B-475F-92A605A00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483" y="314057"/>
            <a:ext cx="2179364" cy="12340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E64888-904D-9888-DB14-901FD54B77B9}"/>
              </a:ext>
            </a:extLst>
          </p:cNvPr>
          <p:cNvSpPr txBox="1"/>
          <p:nvPr/>
        </p:nvSpPr>
        <p:spPr>
          <a:xfrm>
            <a:off x="802371" y="1751784"/>
            <a:ext cx="340931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Think of it like a box with a label 🧰</a:t>
            </a:r>
          </a:p>
        </p:txBody>
      </p:sp>
      <p:pic>
        <p:nvPicPr>
          <p:cNvPr id="9" name="Picture 8" descr="A black background with arrows and text&#10;&#10;AI-generated content may be incorrect.">
            <a:extLst>
              <a:ext uri="{FF2B5EF4-FFF2-40B4-BE49-F238E27FC236}">
                <a16:creationId xmlns:a16="http://schemas.microsoft.com/office/drawing/2014/main" id="{3932A773-046F-FCF2-14BC-B723F211B63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459" y="1635800"/>
            <a:ext cx="3409319" cy="864403"/>
          </a:xfrm>
          <a:prstGeom prst="rect">
            <a:avLst/>
          </a:prstGeom>
        </p:spPr>
      </p:pic>
      <p:pic>
        <p:nvPicPr>
          <p:cNvPr id="11" name="Picture 10" descr="A cartoon of a person sitting on a box with a number&#10;&#10;AI-generated content may be incorrect.">
            <a:extLst>
              <a:ext uri="{FF2B5EF4-FFF2-40B4-BE49-F238E27FC236}">
                <a16:creationId xmlns:a16="http://schemas.microsoft.com/office/drawing/2014/main" id="{F3F31EF9-72F6-AE00-0582-F9A6F4239B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406" y="2500203"/>
            <a:ext cx="4500483" cy="208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21648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B86AA-0679-DC81-5BB6-47FD6891A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Variables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E27837-8665-B48A-F0D2-36AC72C2EE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Variable Naming Rules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139984D-D824-05A5-BED1-31C259477EB5}"/>
              </a:ext>
            </a:extLst>
          </p:cNvPr>
          <p:cNvSpPr>
            <a:spLocks noGrp="1" noChangeArrowheads="1"/>
          </p:cNvSpPr>
          <p:nvPr>
            <p:ph type="body" idx="10"/>
          </p:nvPr>
        </p:nvSpPr>
        <p:spPr bwMode="auto">
          <a:xfrm>
            <a:off x="396090" y="1010592"/>
            <a:ext cx="656948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" panose="020B0604020202020204" pitchFamily="34" charset="0"/>
              </a:rPr>
              <a:t>✅ Must start with a letter or underscore </a:t>
            </a:r>
            <a:r>
              <a:rPr kumimoji="0" lang="en-US" altLang="en-US" sz="18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 Unicode MS" panose="020B0604020202020204" pitchFamily="34" charset="-128"/>
              </a:rPr>
              <a:t>_</a:t>
            </a:r>
            <a:br>
              <a:rPr kumimoji="0" lang="en-US" altLang="en-US" sz="18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</a:br>
            <a:r>
              <a:rPr kumimoji="0" lang="en-US" altLang="en-US" sz="18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✅ Can contain letters, numbers, and underscores</a:t>
            </a:r>
            <a:br>
              <a:rPr kumimoji="0" lang="en-US" altLang="en-US" sz="18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</a:br>
            <a:r>
              <a:rPr kumimoji="0" lang="en-US" altLang="en-US" sz="18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❌ Cannot start with a number</a:t>
            </a:r>
            <a:br>
              <a:rPr kumimoji="0" lang="en-US" altLang="en-US" sz="18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</a:br>
            <a:r>
              <a:rPr kumimoji="0" lang="en-US" altLang="en-US" sz="18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❌ No spaces or special symbols</a:t>
            </a:r>
            <a:endParaRPr kumimoji="0" lang="en-US" altLang="en-US" sz="1800" b="1" i="0" u="none" strike="noStrike" spc="50" normalizeH="0" baseline="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spc="50" normalizeH="0" baseline="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  <p:pic>
        <p:nvPicPr>
          <p:cNvPr id="7" name="Picture 6" descr="A black background with white text and red dots">
            <a:extLst>
              <a:ext uri="{FF2B5EF4-FFF2-40B4-BE49-F238E27FC236}">
                <a16:creationId xmlns:a16="http://schemas.microsoft.com/office/drawing/2014/main" id="{A5ECCB72-5FE9-1C14-5D0B-4ABC03512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926" y="2607850"/>
            <a:ext cx="4488706" cy="132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812249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7A441-9B2C-FE04-C4D9-F3125E3EB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7828FA-5AF6-8B65-2B95-A059936235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Datatypes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B0DBE-7CAD-1391-93FD-BD751521B94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73350" y="939966"/>
            <a:ext cx="2419778" cy="1387371"/>
          </a:xfrm>
        </p:spPr>
        <p:txBody>
          <a:bodyPr/>
          <a:lstStyle/>
          <a:p>
            <a:pPr marL="390521" indent="-285750">
              <a:buFont typeface="Wingdings" panose="05000000000000000000" pitchFamily="2" charset="2"/>
              <a:buChar char="v"/>
            </a:pPr>
            <a:r>
              <a:rPr lang="en-US" sz="1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String</a:t>
            </a:r>
          </a:p>
          <a:p>
            <a:pPr marL="390521" indent="-285750">
              <a:buFont typeface="Wingdings" panose="05000000000000000000" pitchFamily="2" charset="2"/>
              <a:buChar char="v"/>
            </a:pPr>
            <a:r>
              <a:rPr lang="en-US" sz="1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Integer</a:t>
            </a:r>
          </a:p>
          <a:p>
            <a:pPr marL="390521" indent="-285750">
              <a:buFont typeface="Wingdings" panose="05000000000000000000" pitchFamily="2" charset="2"/>
              <a:buChar char="v"/>
            </a:pPr>
            <a:r>
              <a:rPr lang="en-US" sz="1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Float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DE0173-B2D2-70DD-FAC7-D38C4D8D0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995" y="822933"/>
            <a:ext cx="2548937" cy="1433777"/>
          </a:xfrm>
          <a:prstGeom prst="rect">
            <a:avLst/>
          </a:prstGeom>
        </p:spPr>
      </p:pic>
      <p:pic>
        <p:nvPicPr>
          <p:cNvPr id="8" name="Picture 7" descr="A black screen with white text">
            <a:extLst>
              <a:ext uri="{FF2B5EF4-FFF2-40B4-BE49-F238E27FC236}">
                <a16:creationId xmlns:a16="http://schemas.microsoft.com/office/drawing/2014/main" id="{2305A627-BFA0-660F-72AC-799E13F52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59" y="2639289"/>
            <a:ext cx="5621873" cy="156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1390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ED9B3C-BFCB-99B3-87C0-08CD1238E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1326" y="2249400"/>
            <a:ext cx="5381347" cy="644700"/>
          </a:xfrm>
        </p:spPr>
        <p:txBody>
          <a:bodyPr/>
          <a:lstStyle/>
          <a:p>
            <a:r>
              <a:rPr lang="en-U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ontserrat ExtraBold" panose="00000900000000000000" pitchFamily="2" charset="0"/>
              </a:rPr>
              <a:t> Arithmetic Operators</a:t>
            </a:r>
          </a:p>
        </p:txBody>
      </p:sp>
    </p:spTree>
    <p:extLst>
      <p:ext uri="{BB962C8B-B14F-4D97-AF65-F5344CB8AC3E}">
        <p14:creationId xmlns:p14="http://schemas.microsoft.com/office/powerpoint/2010/main" val="1124974295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65B762-46EF-6AB1-E3D8-E4ADDD46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ontserrat ExtraBold" panose="00000900000000000000" pitchFamily="2" charset="0"/>
              </a:rPr>
              <a:t> Arithmetic Operators</a:t>
            </a:r>
          </a:p>
        </p:txBody>
      </p:sp>
      <p:pic>
        <p:nvPicPr>
          <p:cNvPr id="8" name="Picture 7" descr="A table with numbers and symbols">
            <a:extLst>
              <a:ext uri="{FF2B5EF4-FFF2-40B4-BE49-F238E27FC236}">
                <a16:creationId xmlns:a16="http://schemas.microsoft.com/office/drawing/2014/main" id="{8FEBB665-DA5D-9AC2-1BF9-6BC2FF5DBC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67" y="665510"/>
            <a:ext cx="4725520" cy="35441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 descr="A colorful logo with numbers and symbols&#10;&#10;AI-generated content may be incorrect.">
            <a:extLst>
              <a:ext uri="{FF2B5EF4-FFF2-40B4-BE49-F238E27FC236}">
                <a16:creationId xmlns:a16="http://schemas.microsoft.com/office/drawing/2014/main" id="{C69A1B1D-2A2B-E724-13AA-7A027E8DC5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0533" y="1949690"/>
            <a:ext cx="2400300" cy="1600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754810395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1A0892-1943-BFEE-7F32-DD7B85CAB3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1754496038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6867E79-030F-0C5A-1684-B096B533B5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Getting Input from User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9724D8-EFD5-FFCB-3F5E-43F9676A9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FEB5DEC-1CAD-5CF5-582D-EA079A10D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53" y="1131616"/>
            <a:ext cx="5047828" cy="7320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FA8FBF-675B-B932-DE31-1F6110127270}"/>
              </a:ext>
            </a:extLst>
          </p:cNvPr>
          <p:cNvSpPr txBox="1"/>
          <p:nvPr/>
        </p:nvSpPr>
        <p:spPr>
          <a:xfrm>
            <a:off x="941294" y="1984684"/>
            <a:ext cx="6427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input() always returns the value as a string.</a:t>
            </a:r>
          </a:p>
        </p:txBody>
      </p:sp>
      <p:pic>
        <p:nvPicPr>
          <p:cNvPr id="9" name="Picture 8" descr="A black screen with white text">
            <a:extLst>
              <a:ext uri="{FF2B5EF4-FFF2-40B4-BE49-F238E27FC236}">
                <a16:creationId xmlns:a16="http://schemas.microsoft.com/office/drawing/2014/main" id="{001112AC-1EC8-2B46-5F6C-2F7C1127AF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53" y="2571750"/>
            <a:ext cx="6029692" cy="123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736946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F1ECB0-18BD-4FA1-91BE-AE1A1113DE1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176462" y="535940"/>
            <a:ext cx="4791075" cy="64611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Thank You</a:t>
            </a:r>
          </a:p>
        </p:txBody>
      </p:sp>
      <p:pic>
        <p:nvPicPr>
          <p:cNvPr id="6" name="Graphic 5" descr="Email with solid fill">
            <a:extLst>
              <a:ext uri="{FF2B5EF4-FFF2-40B4-BE49-F238E27FC236}">
                <a16:creationId xmlns:a16="http://schemas.microsoft.com/office/drawing/2014/main" id="{21BD309E-BA27-4490-BF9C-0C19B0C48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0544" y="2742864"/>
            <a:ext cx="358517" cy="358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06EEFA-3207-48A7-88E8-EA57343BA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9" y="1467773"/>
            <a:ext cx="923363" cy="11039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AEEC1B-9C1E-4DCD-A4D6-2BDFE07E8B9B}"/>
              </a:ext>
            </a:extLst>
          </p:cNvPr>
          <p:cNvSpPr txBox="1"/>
          <p:nvPr/>
        </p:nvSpPr>
        <p:spPr>
          <a:xfrm>
            <a:off x="2709803" y="1604262"/>
            <a:ext cx="2624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About me:</a:t>
            </a: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Sayed Mostafa </a:t>
            </a:r>
            <a:r>
              <a:rPr lang="en-US" sz="12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Modaghegh</a:t>
            </a:r>
            <a:endParaRPr lang="en-US" sz="1200" dirty="0">
              <a:solidFill>
                <a:schemeClr val="accent5">
                  <a:lumMod val="40000"/>
                  <a:lumOff val="60000"/>
                </a:schemeClr>
              </a:solidFill>
              <a:latin typeface="Montserrat ExtraBold" panose="00000900000000000000" pitchFamily="2" charset="0"/>
            </a:endParaRP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AI and Robotics student</a:t>
            </a: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Computer vision developer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9AF9A0-62AD-4B9F-B813-9D8E0C3C1A63}"/>
              </a:ext>
            </a:extLst>
          </p:cNvPr>
          <p:cNvSpPr txBox="1"/>
          <p:nvPr/>
        </p:nvSpPr>
        <p:spPr>
          <a:xfrm>
            <a:off x="2889061" y="2814700"/>
            <a:ext cx="35864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Sm.mostafa79modaqeq@gmail.com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C05FC8-A469-4BBE-9682-7B46D9FABA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874" y="3258944"/>
            <a:ext cx="300083" cy="3000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649A78-2575-431A-BE3D-C202F6A2EF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05230" y="3258944"/>
            <a:ext cx="300082" cy="30008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58B7FC-0C15-45FB-B572-124390E4AA47}"/>
              </a:ext>
            </a:extLst>
          </p:cNvPr>
          <p:cNvSpPr txBox="1"/>
          <p:nvPr/>
        </p:nvSpPr>
        <p:spPr>
          <a:xfrm>
            <a:off x="3174140" y="3258944"/>
            <a:ext cx="30163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@mostafa_modaghegh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3032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7" grpId="0"/>
    </p:bldLst>
  </p:timing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6458</TotalTime>
  <Words>343</Words>
  <Application>Microsoft Office PowerPoint</Application>
  <PresentationFormat>On-screen Show (16:9)</PresentationFormat>
  <Paragraphs>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Aptos</vt:lpstr>
      <vt:lpstr>Aharoni</vt:lpstr>
      <vt:lpstr>Wingdings</vt:lpstr>
      <vt:lpstr>Montserrat ExtraLight</vt:lpstr>
      <vt:lpstr>Arial Unicode MS</vt:lpstr>
      <vt:lpstr>Posterama</vt:lpstr>
      <vt:lpstr>Arial</vt:lpstr>
      <vt:lpstr>Montserrat ExtraBold</vt:lpstr>
      <vt:lpstr>Montserrat</vt:lpstr>
      <vt:lpstr>Khmer UI</vt:lpstr>
      <vt:lpstr>Futuristic Background by Slidesgo</vt:lpstr>
      <vt:lpstr>Programming(0)</vt:lpstr>
      <vt:lpstr>Introduction to Python </vt:lpstr>
      <vt:lpstr>Introduction to Python</vt:lpstr>
      <vt:lpstr>Introduction to Python</vt:lpstr>
      <vt:lpstr>Introduction to Python</vt:lpstr>
      <vt:lpstr>Introduction to Python</vt:lpstr>
      <vt:lpstr>Introduction to Python</vt:lpstr>
      <vt:lpstr>Introduction to Python</vt:lpstr>
      <vt:lpstr>Variables</vt:lpstr>
      <vt:lpstr>Variables</vt:lpstr>
      <vt:lpstr>Variables</vt:lpstr>
      <vt:lpstr>Variables</vt:lpstr>
      <vt:lpstr> Arithmetic Operators</vt:lpstr>
      <vt:lpstr> Arithmetic Operators</vt:lpstr>
      <vt:lpstr>Input</vt:lpstr>
      <vt:lpstr>Input</vt:lpstr>
      <vt:lpstr>Thank You</vt:lpstr>
    </vt:vector>
  </TitlesOfParts>
  <Manager>Mortaza Nabavi</Manager>
  <Company>Gharjistan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Circuits</dc:title>
  <dc:subject>Logic Circuits</dc:subject>
  <dc:creator>Mortaza Nabavi</dc:creator>
  <cp:keywords>Logic Circuits</cp:keywords>
  <cp:lastModifiedBy>Mostafi</cp:lastModifiedBy>
  <cp:revision>263</cp:revision>
  <dcterms:created xsi:type="dcterms:W3CDTF">2024-12-02T14:00:11Z</dcterms:created>
  <dcterms:modified xsi:type="dcterms:W3CDTF">2025-10-26T08:56:12Z</dcterms:modified>
  <cp:category>Logic Circuits</cp:category>
</cp:coreProperties>
</file>